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Masters/notesMaster1.xml" ContentType="application/vnd.openxmlformats-officedocument.presentationml.notesMaster+xml"/>
  <Override PartName="/ppt/theme/theme2.xml" ContentType="application/vnd.openxmlformats-officedocument.them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56" r:id="rId8"/>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notesMaster" Target="notesMasters/notesMaster1.xml"/>
<Relationship Id="rId10" Type="http://schemas.openxmlformats.org/officeDocument/2006/relationships/slide" Target="slides/slide2.xml"/>
<Relationship Id="rId11" Type="http://schemas.openxmlformats.org/officeDocument/2006/relationships/slide" Target="slides/slide3.xml"/>
<Relationship Id="rId12" Type="http://schemas.openxmlformats.org/officeDocument/2006/relationships/slide" Target="slides/slide4.xml"/>
<Relationship Id="rId13" Type="http://schemas.openxmlformats.org/officeDocument/2006/relationships/slide" Target="slides/slide5.xml"/>
<Relationship Id="rId14" Type="http://schemas.openxmlformats.org/officeDocument/2006/relationships/slide" Target="slides/slide6.xml"/>
<Relationship Id="rId15" Type="http://schemas.openxmlformats.org/officeDocument/2006/relationships/slide" Target="slides/slide7.xml"/>
<Relationship Id="rId16" Type="http://schemas.openxmlformats.org/officeDocument/2006/relationships/slide" Target="slides/slide8.xml"/>
<Relationship Id="rId17" Type="http://schemas.openxmlformats.org/officeDocument/2006/relationships/slide" Target="slides/slide9.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 Id="rId25" Type="http://schemas.openxmlformats.org/officeDocument/2006/relationships/slide" Target="slides/slide17.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 Id="rId29" Type="http://schemas.openxmlformats.org/officeDocument/2006/relationships/slide" Target="slides/slide21.xml"/>
<Relationship Id="rId30" Type="http://schemas.openxmlformats.org/officeDocument/2006/relationships/slide" Target="slides/slide22.xml"/>
<Relationship Id="rId31" Type="http://schemas.openxmlformats.org/officeDocument/2006/relationships/slide" Target="slides/slide23.xml"/>
<Relationship Id="rId32" Type="http://schemas.openxmlformats.org/officeDocument/2006/relationships/slide" Target="slides/slide24.xml"/>
<Relationship Id="rId33" Type="http://schemas.openxmlformats.org/officeDocument/2006/relationships/slide" Target="slides/slide25.xml"/>
<Relationship Id="rId34" Type="http://schemas.openxmlformats.org/officeDocument/2006/relationships/slide" Target="slides/slide26.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10" name="Slide Image Placeholder 3"/>
          <p:cNvSpPr>
            <a:spLocks noGrp="1" noRot="1" noChangeAspect="1"/>
          </p:cNvSpPr>
          <p:nvPr>
            <p:ph type="sldImg" idx="2"/>
          </p:nvPr>
        </p:nvSpPr>
        <p:spPr>
          <a:xfrm>
            <a:off x="685800" y="1143000"/>
            <a:ext cx="5486400" cy="3086100"/>
          </a:xfrm>
          <a:prstGeom prst="rect">
            <a:avLst/>
          </a:prstGeom>
          <a:noFill/>
          <a:ln w="12700">
            <a:solidFill>
              <a:schemeClr val="bg2"/>
            </a:solidFill>
          </a:ln>
        </p:spPr>
        <p:txBody>
          <a:bodyPr vert="horz" lIns="91440" tIns="45720" rIns="91440" bIns="45720" rtlCol="0" anchor="ctr"/>
          <a:lstStyle/>
          <a:p>
            <a:pPr lvl="0"/>
            <a:endParaRPr lang="en-IN"/>
          </a:p>
        </p:txBody>
      </p:sp>
      <p:sp>
        <p:nvSpPr>
          <p:cNvPr id="11"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marL="171450" lvl="0" indent="-171450">
              <a:lnSpc>
                <a:spcPct val="100000"/>
              </a:lnSpc>
              <a:buClr>
                <a:schemeClr val="tx1"/>
              </a:buClr>
              <a:buFont typeface="Arial" panose="020B0604020202020204" pitchFamily="34" charset="0"/>
              <a:buChar char="•"/>
            </a:pPr>
            <a:r>
              <a:rPr lang="en-US" dirty="0"/>
              <a:t>Edit Master text styles</a:t>
            </a:r>
          </a:p>
          <a:p>
            <a:pPr marL="450850" lvl="1" indent="-171450">
              <a:lnSpc>
                <a:spcPct val="100000"/>
              </a:lnSpc>
              <a:spcBef>
                <a:spcPts val="400"/>
              </a:spcBef>
              <a:spcAft>
                <a:spcPts val="400"/>
              </a:spcAft>
              <a:buClr>
                <a:schemeClr val="tx1"/>
              </a:buClr>
              <a:buFont typeface="Arial" panose="020B0604020202020204" pitchFamily="34" charset="0"/>
              <a:buChar char="•"/>
            </a:pPr>
            <a:r>
              <a:rPr lang="en-US" dirty="0"/>
              <a:t>Second level</a:t>
            </a:r>
          </a:p>
          <a:p>
            <a:pPr marL="719138" lvl="2" indent="-171450">
              <a:lnSpc>
                <a:spcPct val="100000"/>
              </a:lnSpc>
              <a:spcBef>
                <a:spcPts val="300"/>
              </a:spcBef>
              <a:spcAft>
                <a:spcPts val="300"/>
              </a:spcAft>
              <a:buClr>
                <a:schemeClr val="tx1"/>
              </a:buClr>
              <a:buFont typeface="Arial" panose="020B0604020202020204" pitchFamily="34" charset="0"/>
              <a:buChar char="•"/>
            </a:pPr>
            <a:r>
              <a:rPr lang="en-US" dirty="0"/>
              <a:t>Third level</a:t>
            </a:r>
          </a:p>
          <a:p>
            <a:pPr marL="987425" lvl="3" indent="-171450" defTabSz="1169988">
              <a:lnSpc>
                <a:spcPct val="100000"/>
              </a:lnSpc>
              <a:spcBef>
                <a:spcPts val="200"/>
              </a:spcBef>
              <a:spcAft>
                <a:spcPts val="200"/>
              </a:spcAft>
              <a:buClr>
                <a:schemeClr val="tx1"/>
              </a:buClr>
              <a:buFont typeface="Arial" panose="020B0604020202020204" pitchFamily="34" charset="0"/>
              <a:buChar char="•"/>
            </a:pPr>
            <a:r>
              <a:rPr lang="en-US" dirty="0"/>
              <a:t>Fourth level</a:t>
            </a:r>
          </a:p>
          <a:p>
            <a:pPr marL="1255713" lvl="4" indent="-171450">
              <a:lnSpc>
                <a:spcPct val="100000"/>
              </a:lnSpc>
              <a:spcBef>
                <a:spcPts val="200"/>
              </a:spcBef>
              <a:spcAft>
                <a:spcPts val="200"/>
              </a:spcAft>
              <a:buClr>
                <a:schemeClr val="tx1"/>
              </a:buClr>
              <a:buFont typeface="Arial" panose="020B0604020202020204" pitchFamily="34" charset="0"/>
              <a:buChar char="•"/>
            </a:pPr>
            <a:r>
              <a:rPr lang="en-US" dirty="0"/>
              <a:t>Fifth level</a:t>
            </a:r>
            <a:endParaRPr lang="en-IN" dirty="0"/>
          </a:p>
        </p:txBody>
      </p:sp>
      <p:sp>
        <p:nvSpPr>
          <p:cNvPr id="12"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이 덱은 결과보고 덱(기술 백업)의 결론을 한 흐름으로 줄인 핵심 덱이다. 흐름: 전제(말단 절벽) → ① 신뢰할 수 있는 AUCinf를 얻지 못하는 대상자가 많다 → ② AUClast가 이미 총노출의 대부분을 담는다 → ③ AUCinf를 1차로 쓰면 유사성 판정이 흔들린다 → 결론.
모든 수치는 결과 파일에서 자동으로 읽었고 슬라이드별 출처는 core_deck_traceability.csv에 있다. 새 시험 모의는 없고, 핵심 덱에 새로 필요한 요약(케이스별 창 포착률, 대표 대상자)은 scripts/63이 저장된 결과를 요약하거나 원래 시드 규칙으로 다시 만들어 커밋된 결과와 대조했다.
근거 모집단은 계획 시험 모집단(건강인, 체중 층화 배정)이다. 체중 범위 밖과 다른 모집단의 결과는 별첨 A11의 견고성 확인이며 근거가 아니다.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카드 1: 신뢰할 수 있는 AUCinf는 adjusted R² ≥ 0.90 그리고 외삽 ≤ 20%다(기준 세트 (iii)). 미달 비율은 2016 모델 38.8%, 2020 모델 33.2%이다(건강인 60~90 kg, 현행 채혈, 모델마다 대상자 20,000명). 2020 모델 값이 삼분의 일에 조금 못 미쳐 "삼분의 일 이상" 대신 범위로 적었다.
카드 2: AUClast/AUCinf는 참값 기준이다(관측 마지막 정량 시점까지의 참 AUC / 모델 적분 참 AUCinf). 기본 조건 최솟값은 2016 모델 84.8%, 2020 모델 84.3%이고 '이상'으로 적으려고 내림했다. 곡선 모양·정량한계·잔차를 바꾼 경우의 최솟값은 S8.
카드 3: 경계 조건 16개(시험약의 기전을 바꿔 참 AUCinf 비를 동등 한계에 맞춘 제품)에서 동등으로 잘못 판정할 확률의 최댓값(M1: 체중 층 포함 분석 모형). AUCinf 구성은 세트 (iii) 미달자를 제외하고 AUCinf와 Cmax를 함께 판정한 경우로 10개 조건에서 5%를 넘는다. AUClast + Cmax는 1개 조건에서 5%를 넘으며 원인은 별첨 A5.</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모델: 2016 모델은 Kovalenko 2016(주 모델, 두 구획 + 선형·Michaelis-Menten 병렬 소실), 2020 모델은 Kovalenko 2020 Model 1(민감도 모델, 흡수 통과 구획 포함)이다. 파라미터는 논문 표의 값을 그대로 썼고 재추정하거나 보정하지 않았다(별첨 A1).
계획 시험: 건강인 60~90 kg(체중 층화 배정), 300 mg 단회 피하 투여, Syneos 채혈 일정 13회(Day 57까지), arm당 평가 가능 117명. 채혈 시각 허용 범위와 측정 잔차, 정량한계 0.078 mg/L 미만 처리를 넣었다.
비구획 분석: Phoenix WinNonlin 규칙(선형 증가·로그 감소 사다리꼴, λz는 tmax 이후 마지막 3점 이상 구간 중 adjusted R² 최대)을 따르는 엔진이다(별첨 A2). AUCinf = AUClast + Clast / λz.
참값: 같은 대상자의 모델 곡선을 적분한 값이다. AUClast/AUCinf(참값)는 관측 마지막 정량 시점까지의 참 AUC를 참 AUCinf로 나눈 값이다.
모델 적격성(별첨 A1): 연구 제형 300 mg 검증 자료에서 모의 AUClast 평균 / 관측 평균은 2016 모델 0.94~1.04, 2020 모델 1.02~1.13로 허용 범위 ±15% 안이다.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그림: 2016 모델(주 모델), 건강인 60~90 kg 절벽 분석 모집단(20,000명)에서 정량한계 도달일이 중앙값(50백분위)인 대상자(id 3538)의 참 농도 곡선이다. 이 대상자는 Day 38.5에 정량한계에 닿는다. 점은 현행 채혈일(B0)의 참 농도이고, 정량한계 미만 점은 그림 아래쪽에 빈 점으로 그렸다.
절벽 정의: 최고 농도 이후 순간 반감기(ln2 / (-d ln C/dt))가 처음 1일 미만이 된 시점부터 참 농도가 정량한계에 닿는 시점까지. 기울기는 ODE 상태값으로 정확히 계산했다.
두 모델: 절벽 시작 농도 중앙값 2016 모델 0.88 mg/L, 2020 모델 0.89 mg/L; 절벽 길이 중앙값 1.38일, 1.38일(2016 모델 5~95백분위 1.33~1.43일); 정량한계 도달 연구일 중앙값 Day 38.5, Day 40.8.
인용: FDA 쪽은 검색 요약에서 확인한 문구이며 리뷰 원문 PDF는 분석 환경에서 열리지 않아 쪽수와 정확한 문구를 대조하지 못했다(config/literature_core_deck.yaml). 같은 내용은 원개발사 논문 Kovalenko 2020 결과 절에 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미달 비율(건강인 60~90 kg, 현행 채혈): adjusted R² ≥ 0.80(외삽 ≤ 20%)이면 2016 모델 13.4%, 2020 모델 8.2%; ≥ 0.90이면 38.8%, 33.2%. λz를 산출했는데도 기준에 못 미친 비율은 0.90 기준에서 37.3%, 32.6%이다.
Phoenix WinNonlin의 Lambda Z Acceptance Criteria는 사용자가 값을 넣는 선택 항목이며, 기준 미달 프로필은 제외되지 않고 표시만 된다(Certara Phoenix 8.2 NCA 문서). 0.80은 통계분석계획 관행의 하한이고, 공개 SAP는 0.90을 쓴다: NCT04117607(span 조건도 요구, 확인), NCT04441905(확인), NCT04700163(adjusted R² 0.90 초과, 검색 발췌로 확인).
arm당 인원: 시험 모의에서 arm당 평가 가능 대상자 중 기준을 충족한 인원. 0.80 기준이면 중앙값 101~107명, 0.90 기준이면 5~95백분위 63~86명이다.
그림: 막대의 가는 선은 95% 신뢰구간(모델마다 대상자 20,000명), 오른쪽 가로선은 5~95백분위(시험 10,000회)다.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개념도: S4의 대표 대상자 절벽(주황)을 현행 채혈일(검은 점, 후반 7일 간격)과 추가 후보 D3(빈 점)에 겹쳐 그렸다. 후보 D1~D4는 후반에 두세 점을 더하며 가장 가까운 두 점의 간격은 3일이다(config/trial_design.yaml).
변화: 같은 대상자 20,000명(모델마다)에서 현행 B0의 신뢰할 수 있는 AUCinf 비율은 2016 모델 61.2%, 2020 모델 66.8%이다. 점 하나를 더하면 λz 구간이 절벽 앞의 완만한 구간으로 길어져 adjusted R²가 떨어지는 대상자도 생겨 D1, D2, D4에서는 오히려 줄고, 주 두 번 채혈(D3)에서만 0.7~1.4%p 오른다.
탈락자 특성(세트 (iii)): 탈락자는 유지자보다 0.3~0.4 kg 무겁고, 관측 AUClast의 비는 0.89~0.91이다. 기준 미달을 빼는 규칙(규칙 A)은 노출이 낮은 대상자를 빼므로 남은 대상자의 AUCinf가 모집단을 대표하지 않는다. 세부는 별첨 A3.</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대상자(2016 모델, 건강인 60~90 kg, 현행 채혈): 중앙값 id 8070, 5번째 백분위수 id 9220, 최솟값 id 10279. 관측 tlast는 각각 Day 29.1, 21.5, 14.9이다. 선택 규칙은 사전 등록(동률이면 작은 id)이고, 대상자 곡선은 저장된 결과와 같은 시드로 다시 만들어 NCA 값이 저장된 값과 일치함을 확인했다(scripts/63).
삽입도: 로그 눈금으로 tlast 직전 방문부터 절벽 이후까지. 점선은 비구획 외삽선(Clast x exp(-λz(t - tlast))), 빗금은 그 아래 면적(비구획 외삽), 주황은 참 곡선 아래 면적(참 외삽)이다. 배수는 무한대까지의 두 면적의 비다: 중앙값 대상자 비구획 24.5 대 참 3.1 mg·day/L.
최솟값 대상자는 비구획 외삽이 오히려 작다(22.7 대 29.0, 0.79배): tlast 직후 참 곡선이 비구획 외삽선보다 천천히 떨어지기 때문이다. 이 대상자의 adjusted R²는 0.70, 비구획 외삽 비율은 10.9%로 신뢰할 수 있는 AUCinf 기준에 못 미친다.
모집단(2016 모델): 비구획 외삽 비율 95번째 백분위수 12.1%, 참 외삽 비율 95번째 백분위수 3.6%.</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케이스: 곡선 모양(Vmax 최대 소실 속도, Km 반포화 농도; 시험약·대조약 모두)·정량한계·비례 잔차·체중 층은 2016 모델 기본 조건에서 한 가지씩 바꿨다.
제목 규칙(사전 등록 section7, 결과 전 고정): 모든 경우의 최솟값이 84% 이상이면 "모든 경우 84% 이상"이라고 쓰고, 아니면 기본 조건 최솟값, 모든 경우의 80% 미만 비율 최댓값, 모든 경우의 5번째 백분위수 최솟값을 쓴다. 결과는 두 번째다: 정량한계 0.5 mg/L 79.3%, Vmax ×1.25 80.1%, Km ×0.5 82.4%, 비례 잔차 12% 83.0%가 84% 아래다. 하한('이상')은 내림, 상한('이하')은 올림으로 적었다.
기본 조건 최솟값: 2016 모델 84.8%, 2020 모델 84.3%. 80% 미만은 정량한계 0.5 mg/L에서 0.005%(20,000명 중 1명)뿐이다. 5번째 백분위수가 가장 낮은 경우는 Vmax ×1.25(94.7%)다. 곡선 모양 연구 자체의 기본 조건 재추출(참고)의 최솟값은 83.4%다.
문헌: 공개된 평균 AUClast / 평균 AUCinf(비구획). Clot 2021 300 mg 98.1%(같은 조건 모의 참값 평균비 99.2%), PKM12350 대조군 96.0%(모의 참값 99.0%). 비구획 AUCinf가 외삽을 과대추정하므로(S7) 공개 값은 실제 커버리지보다 낮게 나온다.
EMA 생동 지침(CPMP/EWP/QWP/1401/98 Rev. 1)은 AUClast가 AUCinf의 80% 미만인 관측이 20%를 넘으면 시험 타당성을 논의하게 한다. 제네릭 생동성 시험 지침이다. 바이오시밀러 요건이 아니라 AUClast 적정성의 관행 기준으로 인용했다.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두 구성: AUClast + Cmax는 두 지표가 모두 동등 기준을 통과해야 동등이다. AUCinf + Cmax는 신뢰할 수 있는 AUCinf(adjusted R² ≥ 0.90, 외삽 ≤ 20%)를 얻은 대상자만으로 AUCinf를 판정하고 Cmax와 함께 통과해야 동등이다(규칙 A, 세트 (iii)).
최댓값: AUCinf 구성은 2016 모델 17.47%, 2020 모델 14.08%(모두 표적 매개 소실 칸). AUClast 구성의 5% 초과 한 조건은 2020 모델 말초 분포 증가 칸 5.63% (95% CI 5.31~5.95)이다(원인 분해는 별첨 A5).
참조: 참 AUCinf로 판정하면 경계 1종 오류는 4.53~5.83%다. 체중 층을 넣지 않은 분석 모형(M0)에서는 AUCinf 구성 9개, AUClast 구성 1개 조건이 5%를 넘는다(별첨 A5).</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2차 평가변수: AUCinf는 λz를 산출한 대상자 전원과 신뢰할 수 있는 AUCinf(adjusted R² ≥ 0.90, 외삽 ≤ 20%)를 얻은 대상자, 두 분석군으로 각각 요약·비교해 보고한다. 두 분석군의 인원과 탈락 사유를 함께 적는다.
채혈: 현행 Syneos 일정(B0)을 유지한다. 채혈을 더하는 후보 D1~D4와 한 점을 빼는 후보 모두 결과 보고 전에 정한 기준 (a)~(d)를 하나도 충족하지 못했다(두 모델; 별첨 A7).
공동 1차 요구 시: AUClast + Cmax를 유지한 채 AUCinf를 더한다(세 지표 공동 1차). AUCinf + Cmax만 남기면 경계 1종 오류가 커지고 탈락이 노출과 연관된다(별첨 A10).</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합격 기준(비교 전에 고정, config/design_clot2021.yaml gate): 코호트 평균 체중으로 모의한 평균 AUClast가 관측 평균의 ±15% 안, 모의 로그 척도 변동계수(CV) 35~51%, 관측 코호트 중앙값 tlast가 모의 분포의 5~95백분위 안, 체중 효과의 부호와 크기. 두 모델 모두 모든 기준을 통과했다. 모델 파라미터는 논문 값 그대로이며 검증 자료에 맞춰 조정하지 않았다. 모의 로그 척도 CV는 2016 모델 36~41%, 2020 모델 36~47%다.
연구 제형의 모의/관측은 두 모델을 합쳐 0.94~1.13이다. 자료별(2016 모델 / 2020 모델): 비아시아인 통합 1.04 / 1.13, 일본인 300 mg 1.00 / 1.08, 중국인 300 mg 0.94 / 1.02, 중국인 600 mg 0.98 / 1.03, 일본인 600 mg 1.07 / 1.13. 검증 코호트는 모델 신뢰성의 근거이며, 평가변수에 관한 결론은 시험 모집단 모의에서만 세운다.
200 mg 제형(외부 점검): 모의/관측 2016 모델 0.82~0.91, 2020 모델 0.90~1.00(2016 모델 z 값 -3.4~-1.5). 최고 농도 도달 시간은 관측 3.0~3.1일, 모의 7일로 흡수 속도를 재현하지 못한다. gate 범위를 연구 제형으로 좁힌 결정은 첫 비교 결과를 본 뒤의 사후 결정이다(커밋 c018729, 사전 명시 등록부).
Cmax(gate 밖, 한계): 연구 제형 모의/관측은 2016 모델 1.08~1.27, 2020 모델 1.00~1.17로 대부분 과대 예측이다. 최대는 600 mg 일본인 코호트(2016 모델)이고, 2020 모델에는 과소 예측도 하나 있다(최솟값 0.997).
300 mg 단일 arm 여섯 개(Li 2020, 체중 미보고라 78 kg 가정; 외부 점검): 모의 평균 / 공개 arm 산술평균은 2016 모델 0.91~1.17, 2020 모델 0.98~1.27. 각 모델의 개발 자료를 뺀 항목만으로 같은 평균 기준을 다시 적용한 완전 외부 재판정의 불합격은 2016 모델 1/10, 2020 모델 3/8이며 모두 체중 미보고 단일 arm이다(두 모델의 개발 자료가 달라 항목 수가 다르다).
문헌 AUClast/AUCinf 평균비(공개 비구획 값 대 같은 조건 모의; 모의는 2016 모델 / 2020 모델): Clot 2021 300 mg 문헌 98.1%, 모의 비구획 96.7% / 96.7%, 모의 참값 99.2% / 99.1%. PKM12350 대조군 문헌 96.0%, 모의 비구획 96.2% / 96.4%. Clot 2021 600 mg 문헌 98.1%, 모의 비구획 92.3% / 92.8%, 모의 참값 96.8% / 96.9%. 300 mg 두 자료는 ±3%p 안에서 일치하고, 600 mg에서는 모의 참값도 문헌보다 낮아 AUClast/AUCinf를 낮게 보는 보수적 방향이다.
관련 보고서: 4.2절, Table 4-1, 4.3절, 4.4절, Table 4-2, 부록 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규칙(config/nca_rules.yaml): AUClast는 실제 채혈 시각으로 선형 증가·로그 감소 사다리꼴로 계산하고 투여 전 기저치를 포함한다. 정량한계 미만 처리는 Phoenix가 자동으로 하지 않으므로 비구획 분석 전에 적용한다: 첫 정량값 전 0, 정량값 사이 결측(인접점 연결), 마지막 정량값 뒤 제외, 첫 정량 뒤 두 번 연속 정량한계 미만이면 그 뒤 정량값은 결측(통계분석계획 관행).
λz(Best Fit): 후보 구간은 Cmax 뒤(Cmax 제외) 양의 농도 마지막 k점(k는 3 이상), 가중치 없는 로그 선형 회귀, 기울기 양수 구간 제외, adjusted R² 최대 구간이며 최댓값과 차이가 0.0001 미만이면 점이 많은 구간을 고른다. Cmax 뒤 양의 농도가 3점 미만이면 λz를 산출하지 않는다. AUCinf = AUClast + Clast/λz(Phoenix AUCINF_obs).
기준 세트(사전 등록 2026-09-26 4절; 모두 λz 산출을 전제; 외삽 = (AUCinf - AUClast) / AUCinf, span = λz 구간 길이 / 반감기): (i) adjusted R² ≥ 0.80, 외삽 ≤ 20%; (ii) 여기에 span ≥ 반감기 2배; (iii) adjusted R² ≥ 0.90, 외삽 ≤ 20%; (iv) 여기에 span ≥ 반감기 3배. 세트 (ii)가 원래 사전 명시한 정의이고 엔진의 기본 표시도 이것이다. 세트 (i)은 첫 결과 뒤 더한 사후 정의이며 관행 범위의 하한으로 보고한다(S5). 세트 (iii)과 (iv)는 v1.0.1 사전 등록 4절에서 더했고, 이 덱의 "신뢰할 수 있는 AUCinf"는 세트 (iii)이다.
Phoenix: Lambda Z Acceptance Criteria(최소 adjusted R², 최대 외삽 %, 최소 span)는 Rules 탭에서 사용자가 넣는 항목이다. 넣지 않으면 적용되지 않고, 넣으면 프로필마다 Accepted/Not_Accepted로 표시할 뿐 제외하지 않는다(Certara Phoenix 8.2 NCA 문서; 사전 등록 4절).
공개 통계분석계획(사전 등록 6절 목록): NCT04117607은 adjusted R² 0.90 이상과 span 요건(세트 (iv)와 같은 조건), NCT04441905는 adjusted R² 0.90 이상, NCT04700163은 adjusted R² 0.90 초과(웹 검색 발췌로 확인)를 요구한다.
엔진 검증: NonCompart 0.8.4, PKNCA 0.12.1과 Theoph 12개, Indometh 6개, 모의 두필루맙 1,000개 프로필(모두 1,018개)에서 엔진 쌍별로 비교했다. λz 선택 구간 3,054/3,054 일치, 파라미터 최대 상대 차이 4.9×10⁻¹³, 모든 비교 통과. 실제 Phoenix 출력과는 대조하지 않았다.
관련 보고서: 3.4절, 4.1절, 부록 D, 부록 H.</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60~90 kg, 현행 채혈 B0) 모델마다 20,000명의 대상자 수준 결과다. 네 기준 세트는 모두 외삽 ≤ 20%를 요구하고, (i) adjusted R² ≥ 0.80, (ii) = (i) + span ≥ 2, (iii) adjusted R² ≥ 0.90, (iv) = (iii) + span ≥ 3다(span = λz 구간 길이 ÷ 반감기). 세트 (iii)이 이 덱의 '신뢰할 수 있는 AUCinf'다.
미달(두 모델 범위): 세트 (i) 8.2~13.4%, (ii) 16.1~19.3%, (iii) 33.2~38.8%, (iv) 65.9~72.5%. 표의 괄호는 Wilson 95% 구간이다. 세트 (i)은 adjusted R² 기준이 가장 낮고 span 조건이 없어 네 세트 중 가장 느슨하므로, 그 미달 비율이 관행 기준에서의 하한이다.
사유는 계층 분류(λz 산출 불가, adjusted R² 미달, 외삽 초과, span 미달 순으로 하나만 셈)라 네 칸의 합이 미달과 같고, 뒤 세 칸의 합이 'λz 산출, 기준 미달'이다. 세트 (iv)의 span 미달은 계층 분류로 27.1~39.2%, 다른 사유와 겹치는 대상자까지 세면 38.5~46.8%다. 외삽 20% 초과는 겹침을 포함해도 0.8~1.1%로 작다.
arm당 충족: 동일 제품 시험 10,000회(모델마다)에서 arm마다 기준을 충족한 평가 가능 대상자 수(arm당 117명 중)의 중앙값과 5~95백분위다. λz 산출만 요구하면 중앙값 116명, 세트 (i) 101~107명, 세트 (iii) 72~78명이고, 세트 (iii) 충족 인원이 가장 적은 시험은 49명이었다.
공개 SAP(NCT04117607, NCT04441905, NCT04700163)는 adjusted R² 0.90을 쓴다(NCT04700163은 0.90 초과, 사이트 접근이 막혀 검색 발췌로 확인). 이 덱은 그래서 세트 (iii)을 신뢰 기준으로 삼는다.
관련 보고서: 5.3절, Table 5-5, Figure 5-4.</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60~90 kg, 체중 층화 배정, 현행 채혈 B0) 결과다. 세트 (iii)(adjusted R² ≥ 0.90, 외삽 ≤ 20%)이 이 덱의 신뢰할 수 있는 AUCinf이며, 결과 파일에 있는 곳은 모두 세트 (iii)으로 적었다.
구조적 원인, 잔차(그림 왼쪽): 2016 모델 구조에서 비례 잔차를 24.2%에서 12.0%로 줄이면 세트 (iii) 미달은 38.8%에서 27.2%로 줄지만 여전히 크고, 세트 (iv)(span ≥ 3)는 65.9%에서 66.0%로 그대로다(Wilson 95% 구간 65.2~66.5 대 65.4~66.7; 대응 비교 구간은 없다). adjusted R² 중앙값: 0.930 → 0.946. 잔차가 줄면 adjusted R² 미달로 빠지던 대상자가 span 미달로 옮겨 간다(세트 (iii)은 충족하고 span만 미달하는 몫 27.1%p → 38.8%p). λz 구간이 절벽 앞 채혈점에 묶여 span 중앙값(3.07~3.29)이 기준 3에 가깝기 때문이다(λz 구간 끝의 중앙값이 정량한계 도달일 중앙값보다 앞선다). 잔차를 줄인 변형은 2016 모델 구조에만 있다(2020 모델 세트 (iii) 미달 33.2%).
구조적 원인, 정량한계: 정량한계를 0.078에서 0.02 mg/L로 낮추면 세트 (i)(adjusted R² ≥ 0.80) 충족이 2016 모델 -2.33%p (95% CI -2.80~-1.86), 2020 모델 -5.93%p (95% CI -6.39~-5.47) 바뀐다(같은 대상자 대응 비교). 가법 잔차를 정량한계에 비례시켜도 -1.93%p (95% CI -2.16~-1.69), -2.43%p (95% CI -2.66~-2.19)로 떨어진다. 마지막 정량 시점이 늦어지면서 adjusted R² 0.80 미달이 는다(2016 모델 11.4% → 14.8%, 2020 모델 7.0% → 13.5%); 보고서 5.10절은 정량한계 근처의 잡음이 정량되기 때문이라고 설명한다. 정량한계 격자는 세트 (i)·(ii)만 계산했으므로 세트 (iii)으로 넓히지 않는다.
무작위가 아님(세트 (iii)): 탈락자 대 유지자의 참 AUCinf 기하평균비는 2016 모델 0.928 (95% CI 0.918~0.938), 2020 모델 0.895 (95% CI 0.885~0.906), 관측 AUClast 기하평균비는 0.89~0.91이다. 체중 차이(탈락자 - 유지자)는 0.42 kg (95% CI 0.21~0.62), 0.35 kg (95% CI 0.14~0.56)이다. 층별 미달: 가벼운 층 37.6%, 무거운 층(75 kg 초과) 39.9%(2016 모델); 32.2%, 34.2%(2020 모델); 차이 2.3%p (95% CI 0.9~3.6), 2.0%p (95% CI 0.7~3.4)(Newcombe 구간). 그 결과 동일 제품 시험 2,000회에서 세트 (iii) 분석군의 arm 간 무거운 층 비율 차이가 5%p를 넘는 시험이 28.6~33.4%이고(5~95백분위 -8.7~8.5%p), AUClast 분석군에서는 그런 시험이 0.0%다(무작위배정의 층 구성 유지; 층 내 1:1 배정에서 두 arm의 차이는 최대 0.9%p, 한 명).
arm마다 다름(그림 오른쪽): 시험 2,000회를 운용 특성 시드로 다시 만들어 arm별 세트 (iii) 미달 비율의 차이(시험군 - 대조군)를 평균했다. 동일 제품 -0.2~0.1%p(대조군 평균 미달 33.9~38.6%). 참 AUCinf 비 0.80 경계 칸(기전 하나를 바꾼 가상 시험약): 흡수 속도 감소 12.6~13.0, 표적 소실 증가 7.2~8.9, 흡수량 감소 2.6~3.0, 선형 소실 증가 -2.1~-1.4, 말초 분포 증가 -9.4~-8.4(두 모델, %p). 참 비 1.25 경계 칸: 표적 소실 감소 -9.2~-7.1, 흡수량 증가 -2.8~-2.6, 선형 소실 감소 0.6~1.7. 평균의 95% 구간 폭은 최대 0.57%p로 표식보다 좁다. 로그 참 비에 대한 선형 적합의 R²는 0.17~0.18로, 차이는 참 비가 아니라 기전이 정한다. 인원 수 기반 결과라 분석 모형(M0/M1)과 무관하다.
사전 등록: 층 구성과 arm 간 차이는 section6 등록 후 처음 계산했다(DECISIONS.md D-059). 관련 보고서: 5.3절(Table 5-6, Table 5-7, Figure 5-5, Figure 5-6), 5.10절, 6.5절.</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대상자(2020 모델, 건강인 60~90 kg, 현행 채혈): 중앙값 id 14636, 5번째 백분위수 id 12784, 최솟값 id 11228. 관측 tlast는 각각 Day 35.1, 28.2, 15.0이다. 선택 규칙은 사전 등록(동률이면 작은 id)이고, 대상자 곡선은 저장된 결과와 같은 시드로 다시 만들어 NCA 값이 저장된 값과 일치함을 확인했다(scripts/63). 그림 구성은 S7과 같다.
삽입도: 로그 눈금으로 tlast 직전 방문부터 절벽 이후까지. 점선은 비구획 외삽선(Clast x exp(-λz(t - tlast))), 빗금은 그 아래 면적(비구획 외삽), 주황은 참 곡선 아래 면적(참 외삽)이다. 배수는 무한대까지의 두 면적의 비다: 중앙값 대상자 비구획 16.3 대 참 3.6, 5번째 백분위수 대상자 71.1 대 18.0 mg·day/L.
중앙값·5번째 백분위수 대상자의 adjusted R²는 0.949, 0.997, 비구획 외삽 비율은 3.0%, 12.1%로 신뢰할 수 있는 AUCinf 기준(adjusted R² ≥ 0.90, 외삽 ≤ 20%)을 충족한다. 기준을 충족해도 외삽 면적 자체는 참값의 몇 배로 추정된다.
최솟값 대상자(AUClast/AUCinf 84.3%)는 최고 농도 뒤 정량 시료가 2개뿐이어서 λz 최소 점 수(3점)에 못 미쳐 λz를 산출하지 못했다. 따라서 비구획 외삽선과 빗금이 없고, 참 외삽 면적은 28.1 mg·day/L다. 이 대상자는 기준 미달자를 빼는 규칙 A에서도, λz 산출 가능자를 모두 쓰는 규칙 B에서도 AUCinf가 없다.
모집단(2020 모델): 비구획 외삽 비율 95번째 백분위수 11.9%, 참 외삽 비율 95번째 백분위수 3.5%.</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60~90 kg, 체중 층화, 현행 채혈, 300 mg), 모델당 20,000명의 대상자 수준 결과다. 참값은 잔차 없는 모델 적분값이다. 창 포착률(참 AUClast ÷ 참 AUCinf)은 분자·분모 모두 참 곡선의 적분이라 잔차 오차가 tlast를 통해서만 들어간다. 관측 대 참 비(관측 AUClast 또는 NCA AUCinf ÷ 같은 대상자의 참 AUCinf)는 비례 잔차 오차와 사다리꼴 근사도 담으며, 잔차 모형이 두 arm에 같으므로 두 arm에 같게 들어간다(M&amp;S 보고서 Table 5-3).
NCA AUCinf 규칙 B 대 참 비의 중앙값은 1.003(2016 모델), 1.007(2020 모델)이다. 로그 척도 표준편차는 관측 AUClast 0.096, 규칙 B 0.101, 규칙 A 0.094(2016 모델); 0.058, 0.063, 0.061(2020 모델)이다. 퍼짐의 대부분은 잔차 오차이고 두 평가변수에 같이 들어간다. NCA AUCinf에는 λz 외삽 오차가 더해진다(외삽 배수 AUCinf/AUClast 최대 7.19, 2.31).
최솟값(2016 모델 / 2020 모델): 참 AUClast 0.848 / 0.843; 관측 AUClast 0.598 / 0.742; NCA 규칙 B 0.622 / 0.779; NCA 규칙 A (i) 0.622 / 0.802. 관측 AUClast의 가장 낮은 값은 성긴 채혈에 붙은 비례 잔차 오차 때문이며 채혈 구간 때문이 아니다(창 포착률 최솟값은 별첨 A4a, S7).
그림에서 1.5 이상은 한 구간으로 모았다(규칙 B만: 2016 모델 20명, 2020 모델 1명). 세로축은 로그 눈금이라 몇 명뿐인 꼬리도 보인다. 분포는 로컬 대상자 수준 결과에서 만든 results/deck_inputs/coverage_hist.csv(0.02 간격)이며 커밋된 요약(표)과 대조했다.
세트: 규칙 A는 기준 세트 (i)(adjusted R² ≥ 0.80, 외삽 ≤ 20%) 미달자를 뺀다. 신뢰할 수 있는 AUCinf(세트 (iii), adjusted R² ≥ 0.90)로 뺀 관측 대 참 비는 결과 파일에 없어 싣지 않았다. 세트 (iii)이면 대상자의 33.2~38.8%가 빠진다(S5).</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S9 점도표의 칸별 값이다. 경계 칸 = 시험약의 기전 하나를 바꿔 참 AUCinf 비를 동등 한계에 맞춘 가상 제품. 모델마다 8칸, 합 16칸. 두 구성: AUClast + Cmax(두 지표 모두 통과해야 동등), AUCinf + Cmax(신뢰할 수 있는 AUCinf, 곧 adjusted R² ≥ 0.90와 외삽 ≤ 20%를 얻은 대상자만으로 AUCinf를 판정하는 규칙 A 세트 (iii)).
Wilson 분류(칸마다 시험 10,000회의 통과 비율과 Wilson 95% 구간): 보수적 = 상한 &lt; 5%, 명목 = 구간이 5% 포함, 초과 = 하한 &gt; 5%. 점추정만 보면 AUCinf 구성은 10칸, AUClast 구성은 1칸이 5%를 넘는다(S9 본문의 칸 수).
AUClast + Cmax(M1): 보수적 15칸, 명목 0칸, 초과 1칸. 초과 칸은 2020 모델 말초 분포 증가 칸 5.63% (95% CI 5.31~5.95)이다(원인은 별첨 A5b). 같은 칸에서 AUCinf 구성은 2.13% (95% CI 1.94~2.34)로 보수적이다.
AUCinf + Cmax(M1): 초과 9칸, 명목 2칸, 보수적 5칸. 최댓값은 2016 모델 17.47% (95% CI 16.74~18.23), 2020 모델 14.08% (95% CI 13.41~14.78).
흡수 속도 감소 두 칸은 참 Cmax 비(0.632~0.633)가 동등 한계 밖이라 Cmax가 모든 시험에서 불통과한다. 두 구성 모두 이 칸의 판정에는 정보가 없다.
체중 층을 넣지 않은 M0에서는 AUCinf 구성 초과 8칸, AUClast 구성 보수적 15칸이다(분석 모형별 비교는 별첨 A5b).</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(a) 분석 모형: M0는 로그 척도 합동 t 검정(현행), M1은 투여군과 무작위배정 체중 층(층 경계 75 kg)을 고정 효과로 둔 분산분석(주분석 후보, 의뢰자 결정), M2는 log 체중 공분산분석(민감도)이다. 칸 수는 경계 1종 오류 점추정이 5%를 넘는 칸이다. Wilson 하한까지 5%를 넘는 칸(초과)은 M1에서 규칙 A (iii) 9칸, 규칙 B 8칸이다. 기준 세트별 구성(criteria_g2_type1.csv)은 사전 등록에서 M0와 M1만 돌려 M2 칸은 미산출이다. 규칙 A (ii)는 사전 명시 원래 정의다. 참고로 규칙 A (iv)는 M1에서 12칸(최대 27.19%), 규칙 C (iv)는 최대 6.65%다. 규칙 A (iii)의 신뢰할 수 있는 AUCinf = adjusted R² ≥ 0.90, 외삽 ≤ 20%.
(b) 초과 칸: 2020 모델(민감도 모델)에서 시험약의 말초 분포용적만 ×2.28(참 AUCinf 비 0.80). 같은 참 비를 만드는 2016 모델 칸(×3.21)의 AUClast + Cmax는 M1 4.33%로 보수적이다. 같은 칸의 AUCinf + Cmax(규칙 A (iii))는 2.13%.
AUClast + Cmax, 시험 20,000회: M0 5.18% (95% CI 4.88~5.50)(명목), M1 5.63% (95% CI 5.31~5.95)(초과), M2 5.75% (95% CI 5.43~6.08)(초과). 사전 명시 10,000회 값: M0 5.32% (95% CI 4.90~5.78), M1 5.74% (95% CI 5.30~6.21). M0의 10,000회 구간이 5%를 포함해 이 칸을 20,000회로 늘렸고(DECISIONS D-048 확대 규칙, 사후 추가), 세 분석 모형을 모두 20,000회로 보고한다.
같은 시험 안의 분해(%p, M1 / M0): 참 AUCinf 판정과 5%의 차 -0.060 / -0.415, AUClast 효과(AUClast 단독과 참 AUCinf 판정의 차) +0.705 / +0.610, Cmax 효과 -0.020 / -0.015, 합계(AUClast + Cmax와 5%의 차) +0.625 / +0.180. M1: 참 AUCinf 판정 4.94%, AUClast 단독 5.65%, AUClast + Cmax 5.63%.
AUClast 기하평균비 편향(참 AUCinf 비 대비): M1 0.41% (95% CI 0.34~0.48), M0 0.41%로 거의 같다. M1이 M0보다 높은 것은 새 편향이 아니라 표준오차 보정 때문이다: 참 AUCinf 판정이 M0 4.59%에서 M1 4.94%로 오르고, 그 시험 간 표준편차 / 시험 내 표준오차가 M0 0.971, M1 0.998이다(DECISIONS D-060).</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평균비는 평균 AUClast를 평균 AUCinf로 나눈 값이다. 모의는 문헌과 같은 용량(300 mg), 채혈 일정, 코호트 평균 체중(PKM12350 78 kg 가정, Clot 2021 59.9 kg)으로 만들었고, 모의 참 평균비는 모델 적분 참 AUClast 평균을 참 AUCinf 평균으로 나눈 값이다.
PKM12350 대조군(FDA BLA 761055 임상약리 리뷰 Table 4.2.c): 문헌 96.0%, 모의 비구획 96.2% / 96.4%, 모의 참값 99.0% / 99.1%(2016 모델 / 2020 모델). 모의 비구획 대 문헌 차이 0.3 / 0.4%p. 시험군 공개 값(488 / 554)은 AUCinf 산출 대상자 수가 다를 가능성이 있어 공개 자료로 확인할 수 없으므로 쓰지 않았다.
Clot 2021 Table 3 300 mg: 문헌 98.1%, 모의 비구획 96.7% / 96.7%, 모의 참값 99.2% / 99.1%. 차이 -1.5 / -1.5%p. 일치 기준(±3%p)은 프로젝트 문헌 표의 판정 기준이며 수치로 다시 계산해 결과 파일 판정과 같음을 확인했다. 같은 표의 600 mg 코호트는 문헌 98.1%보다 모의 참 평균비(96.8~96.9%)가 낮아 보수적 방향이고, 200 mg은 연구와 다른 제형이라 외부 점검 성격이다(결과보고 덱 A1).
arm별 관측 평균 AUClast(mg·day/L): PKM12350 시험약 487.5, 대조약 500.0; PKM14161 시험약 587, 대조약 575. 모의 평균은 연구 채혈 일정별로 2016 모델 571(PKM12350), 571(PKM14161), 2020 모델 620, 619이다(두 arm에 같은 모의값). PKM12350의 모의/관측은 2016 모델 시험약 1.17, 대조약 1.14, 2020 모델 1.27, 1.24로 검증 허용 범위(±15%)를 넘는 arm이 있다. 체중이 보고되지 않아 가정 체중으로 모의했으며 불합격 여부는 가정 체중에 달려 있다(별첨 A1, 결과보고 덱 S07).
이전 지시의 FDA 리뷰 Table 4.2.b, TYENNE BMER(BLA 761275), MSB11456 피하 투여 초록 항목은 저장소에 자료가 없어 이 슬라이드에서 뺐다.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현행 B0는 Syneos 기본 일정으로 13회 채혈한다(투여 6시간 뒤와 연구일 Day 2, 4, 6, 8, 11, 15, 22, 29, 36, 43, 50, 57; Day 1 = 투여일). 후보 D1~D4는 후반에 두세 점을 더하고, B-는 Day 50을 뺀다. 추가 채혈점 하나는 시험 전체에서 방문 260회다(D1, D2, D3, D4, B- 순으로 520, 780, 1,040, 520, -260회). 자료는 모델마다 대상자 20,000명, 시험 500회다.
결정 규칙(보고서 3.9절, DECISIONS D-026): B0 대비 (a) AUClast 90% 신뢰구간 평균 폭이 2% 이상 감소, (b) 선형 소실 속도상수(ke) ×1.10 제품 시나리오의 AUClast 통과율이 +2%p 이상 증가, (c) AUCinf 신뢰 충족률(세트 (ii), 원래 정의)이 +5%p 이상 증가, (d) NCA 외삽 20% 초과 비율이 B0의 0.5배 이하 중 하나라도 충족하면 추가 채혈을 권고하고, 모두 미충족이면 B0를 유지한다. 판정 기록(config/schedule_decision.yaml, 2026-09-24)의 최종 일정은 B0다.
규칙의 시점(사전 명시 등록부, regulatory/tables/prespecification_register.csv): 'specified after the first schedule simulations were run, before any result was reported'(2026-09-24 02:52 UTC (commit c018729)). 첫 일정 모의 뒤, 결과 보고 전에 정했으므로 사전 규정이라 부르지 않는다.
(a)·(b)는 시험 수준 결과로, 일정 판정 모의 때 설계의 분석법(합동 t 검정, M0)으로만 계산했다(체중 층을 넣은 M1로 다시 계산하지 않음). (a)는 양수가 폭이 좁아지는 쪽이다: 추가 채혈 D1~D4 중 폭이 좁아진 것은 2020 모델 D3뿐이고 가장 큰 감소도 0.06%로 기준 2%에 못 미친다. (c)·(d)는 대상자 수준이라 분석 모형과 무관하다.
(c)의 세트별 범위(D1~D4, 두 모델): 세트 (i) -1.02~2.76%p, 세트 (ii) -3.50~1.69%p(최대 +1.69%p). 참고 열의 세트 (iii)(이 덱의 신뢰할 수 있는 AUCinf)은 같은 대상자 20,000명(모델마다)에서 B0 61.2%(2016 모델), 66.8%(2020 모델) 대비 -2.4~+1.4%p 바뀐다: D1, D2, D4에서는 오히려 줄고, 주 두 번 채혈(D3)에서만 0.7~1.4%p 오른다(S6). B-의 세트 (iii)은 계산하지 않았다.
(d) D3: 0.60 (95% CI 0.53~0.67) / 0.69 (95% CI 0.61~0.76)(2016 모델 / 2020 모델, 부트스트랩 95% 구간). 200,000명 재평가: 2016 모델 0.603 (95% CI 0.583~0.624), 2020 모델 0.725 (95% CI 0.701~0.748)으로 기준 0.5 미충족이다.
Day 50 제거(B-): 판정 기록의 사유는 AUCinf 2차 평가변수와 대응안(fallback)에 쓸 말단 점 확보다. 빼면 신뢰구간 평균 폭은 0.69 / 0.87% 좁아지지만(기준 (a) 2%에 못 미침) NCA 외삽 20% 초과 비율이 B0의 1.29 / 1.29배가 되고 세트 (ii) 신뢰 충족률이 -1.82 / -3.18%p 바뀐다(2016 모델 / 2020 모델).
Day 57 이후 채혈 일정은 어느 결과 파일에서도 모의하지 않았다(DECISIONS D-016에서 철회한 연장안 포함).
관련 보고서: 3.9절, 5.7절(Table 5-14), 6.4절.</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방법: 시험약 arm의 Km만 곱하고 대조약은 그대로 두어 참 AUCinf 비를 계산했다(공통 가상 대상자 200,000명, 체중 60~90 kg, 잔차 없는 모델 적분). 곡선은 선별 20,000명으로 계산한 로그 간격 배율이고, 빈 표식(도달 목표)은 200,000명으로 확인한 값이다. 탐색 범위는 0.01~100배다.
범위 끝의 참 AUCinf 비: 2016 모델 0.999(가장 작은 배율), 1.059(가장 큰 배율); 2020 모델 0.999, 1.054. 모델별 범위는 2016 모델 0.999~1.059, 2020 모델 0.999~1.054이며 제목의 범위는 둘을 합친 것이다. 가장 큰 배율에서 참 Cmax 비는 1.010, 1.010이다.
사전 규정 목표 비 12개(0.70~1.43) 가운데 Km 변화로 닿는 목표는 하나뿐이다(배율 ×84.04, ×91.95). 동등성 경계에는 어느 방향으로도 닿지 않으므로 Km 경계 시나리오는 없다. 다른 기전(F, ka, ke, Vmax, V2)은 ×0.42~×3.21 사이의 배율에서 경계에 닿는다. '도달 못함'은 탐색 범위(Km ×0.01~×100, 다른 기전 ×0.1~×10) 끝에서도 목표에 닿지 않았다는 뜻이다.
해석 주의: Km은 표적 매개 소실을 Michaelis-Menten 식으로 근사한 반포화 농도이며 결합 친화도 그 자체가 아니다. Km은 2016 모델 0.01 mg/L, 2020 모델 0.01 mg/L로 고정되어 있고 두 모델 모두 개인간 변동이 없다. 이 값은 정량한계(0.078 mg/L)보다 낮다.
결합 유사성은 모의 결과가 아니라 분석적 유사성 평가(결합 동역학, 기능 분석)가 담당한다는 것이 의뢰자 입장이다(M&amp;S 보고서 5.6절, 예상 질의 Q10).</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표는 보고서 5.11절의 분석식 근사(두 평가변수 이변량 정규, 분석 모형 M1)로 계산한 AUClast + Cmax 동시 통과 검정력이다. 입력은 2016 모델(현행 채혈, 시험 체중 범위): AUClast 변동계수 40.3%, Cmax 변동계수 34.3%, 두 지표 로그값 상관 0.75. Cmax의 참 비는 AUClast와 같다고 두었다(보수적 가정).
표의 n은 arm당 평가 가능 인원이다. 130명 열은 평가 가능 130명이며 무작위배정 130명이 아니다(CV 50%에서 90.9%). 현행 가정은 arm당 무작위배정 130명 중 평가 가능 117명이고 중도 탈락 자체는 모의하지 않았다.
현행 평가 가능 117명: CV 43%에서 M1 94.5%, M0 94.0%; CV 50%에서 M1 88.0%, M0 87.2%. 목표 검정력에 필요한 평가 가능 인원은 M0에서 CV 43% 100명, CV 50% 129명이다. 유지 제안의 근거는 프로토콜 CV에서 목표를 넘는다는 점이며, 민감도 CV에서도 목표를 원하면 카드의 인원이 필요하다(의뢰자 결정).
분석식 점검: 통계 모의(칸당 5,000회)와의 최대 차이 1.50%p. PK 모델 시험과 비교하면 참 기하평균비 0.95~1.00에서 0.61%p 이내이고, 0.90에서는 분석식이 1.15~2.48%p 높아 낙관적이다.
관련 보고서: 3.12절, 5.11절, Table 5-19; SAP 제안 6절, 7절.</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[제안 SAP] 1차 평가변수는 AUClast + Cmax(두 지표 모두 동등 기준 통과), 주분석 모형은 M1(투여군 + 무작위배정 체중 층, 의뢰자 결정 대기). 2차 평가변수 AUCinf는 동등성 판정에 쓰지 않고 두 분석군으로 보고한다: λz를 산출한 대상자 전원, 신뢰할 수 있는 AUCinf(adjusted R² ≥ 0.90, 외삽 ≤ 20%)를 얻은 대상자. 두 분석군의 인원, 빠진 대상자의 체중과 AUClast를 함께 제시한다.
[대응안] 규제기관이 AUCinf 공동 1차를 요구할 때만 쓴다. AUClast를 빼지 않고 AUCinf를 더한 세 지표 공동 1차(구성 F3B). AUCinf는 규칙 B(λz 산출 전원 포함; 기준 미달자는 제외하지 않고 표시만)다. 경계 1종 오류는 M1에서 16칸 모두 보수적이고 최대 3.95% (95% CI 3.59~4.35), M0 최대 3.57%. 참고로 AUCinf를 규칙 A(세트 (ii) 미달자 제외)로 더하면 최대 3.39%, 규칙 C(미달자에 AUClast 대입)로 더하면 최대 5.16%(1칸이 5% 초과)다.
대응안의 비용(같은 시험에서 AUClast + Cmax 대비 동시 통과율 감소, 2016 모델, 체중 층 없는 분석, 제품당 시험 5,000~20,000회): 동일 제품 0.015%p (95% CI -0.002~0.032)(동시 통과율 99.52% → 99.50%), 참 AUCinf 비 0.950 제품 0.34%p (95% CI 0.18~0.50), 0.953 제품 0.16%p (95% CI 0.05~0.27). F097 제품에서 AUClast + Cmax만의 검정력은 96.82%다. AUCinf를 규칙 A(세트 (ii))로 더하면 감소가 2.06~2.36%p로 커진다. M1 운용 특성 모의(두 모델, 동일 제품과 F097 제품)에서도 검정력 차이는 0.01~0.13%p다. 표본 수는 AUClast + Cmax 기준(별첨 A9)으로 정한다.
[AUCinf + Cmax만] AUClast 없이 AUCinf + Cmax로 판정하는 안은 권하지 않는다. M1 경계 1종 오류: 신뢰할 수 있는 AUCinf만(규칙 A 세트 (iii)) 최대 17.47%, Wilson 하한까지 5% 초과 9칸; 규칙 B 최대 16.03%, 8칸. 신뢰 기준을 쓰면 AUCinf 분석에서 빠지는 대상자가 많고(세트 (iii) 미달 33.2~38.8%, arm당 남는 인원 중앙값 72~78명(시험 10,000회); 세트 (i) 0.80 기준 미달 8.2~13.4%) 빠지는 대상자는 참 AUCinf가 낮아(표의 비) 노출이 낮은 쪽이 체계적으로 빠진다. 규칙 B는 λz 산출 불가(0.62~1.46%)만 빠져 인원 손실은 작지만 16칸 중 10칸이 5%를 넘는다.
관련 보고서: 5.9절, 6.2절, 6.3절, 7절; SAP 제안 1절~7절; 예상 질의 Q9, Q11.</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이 슬라이드는 평가변수 선택의 근거가 아니다. 근거는 시험 모집단(건강인 60~90 kg, 체중 층화 배정, 현행 채혈 B0)뿐이며, 연구 범위 밖 체중과 아토피 피부염 성인 체중 분포의 결과는 의뢰자 결정으로 별첨의 견고성 점검으로 옮겼다(분석은 바뀌지 않고 보고 위치만 바뀜, 보고서 부록 D·부록 I). 핵심 덱에서 아토피 환자 모집단 결과를 쓰는 곳은 이 슬라이드뿐이다.
(a) 체중 구간(구간 안 균일 분포, 구간당 20,000명; 구간 폭은 같지 않다, 점은 구간 체중 중앙값): 무거운 구간일수록 신뢰 기준(세트 (i), adjusted R² ≥ 0.80) 미달이 늘어난다. 2016 모델 9.2% → 29.2%, 2020 모델 5.9% → 18.0%. 이 결과 파일에는 세트 (iii)이 없다. AUClast/AUCinf 5번째 백분위수는 2016 모델 97.3% → 91.5%, 2020 모델 97.1% → 92.6%이고, 80% 미만 대상자는 구간마다 0.01% 이하다. 모델 개발 자료의 체중 범위는 보고되지 않아 130 kg 이상 구간(점선 오른쪽)은 모델 외삽일 수 있다.
(b) 아토피 피부염 성인 체중 분포는 Kamal 2022, Kovalenko 2021, NCT03389893 요약에서 만든 가정 분포(자리표시자)다(로그정규, 평균 78 kg, SD 19 kg, 40~180 kg 절단). 3상 원자료 체중은 분석 환경에서 확인할 수 없었다. 모의 20,000명 중 연구 범위 밖은 40.4%, 100 kg 초과는 12.9%이다. 점은 구간 평균 체중이며 구간은 60 kg 미만, 60~90 kg, 90~100 kg, 100 kg 초과다.
신뢰할 수 있는 AUCinf 미확보(세트 (iii)): 아토피 분포 전체 2016 모델 39.5%, 2020 모델 33.6%(세 모델 변형 33.6~39.8%)로 시험 모집단(38.8%, 33.2%)과 비슷하다. 무거운 환자에 몰린다: 2016 모델 60 kg 미만 33.9%, 100 kg 초과 47.5%; 2020 모델 28.5%, 39.3%. 민감도 체중 분포 두 개에서는 33.1~40.1%(세 모델 변형)다.
제목 수치: 세트 (iii) 미달 환자의 AUClast/AUCinf(참 AUClast / 참 AUCinf) 최솟값은 세 모델 변형 중 가장 작은 값 78.9%(내림)이다. 2016 모델 81.4%, 2020 모델 80.8%; 중앙값 99.5~99.8%, 5번째 백분위수 94.2~95.0%. 전체 환자 중 80% 미만은 0.005% 이하다. 세 모델 변형: 2016 모델, 2020 모델(Model 1), 2016 모델에 성인 3상 공변량(Kovalenko 2020: 선형 소실에 BMI, 중심 분포 용적에 체중)을 넣은 변형.
평균 체중이 높은 모집단의 모의 시험(스트레스 시험, 보고서 부록 I): 엔진의 기본 신뢰 표시(세트 (ii))를 못 넘은 탈락자가 유지자보다 3.2~6.4 kg 무겁다(세 모델 변형, 시나리오, arm 전체의 범위). 아토피 분포의 모의 시험(시나리오당 2,000회, M0): AUClast 기하평균비(GMR) 편향 -0.94~0.39%, AUCinf 규칙 A 세트 (iii) 편향 -2.42~3.97%; AUClast + Cmax와 AUCinf + Cmax(규칙 A, 세트 (iii))의 판정 일치 70.2~88.7%; Vmax 증가 시나리오(VM125)에서 세트 (iii) 미달의 arm 간 차이(시험 - 대조) 4.86~5.71%p.
오른쪽 표(결과보고 덱 S21 요약, 핵심 덱 용어): 구조 모델은 모델마다 경계 조건 8개(조건당 시험 10,000회, 2020 모델 V2 조건만 20,000회). 신뢰할 수 있는 AUCinf + Cmax의 최대는 17.5%(S9). 분석 모형: 2020 모델 V2 증가 조건의 AUClast + Cmax는 M0 5.18%(명목: Wilson 95% 구간이 5% 포함), M1 5.63% (95% CI 5.31~5.95)와 M2 5.75%(둘 다 초과: Wilson 하한 &gt; 5%)이고, 원인 분해는 별첨 A5에 있다.
곡선 모양은 2016 모델만, 대상자 수준(창 포착 분포)으로 모의했고 경계 1종 오류는 계산하지 않았다(S8). 정량한계는 2016 모델 경계 3개 조건(흡수량 감소, 표적 매개 소실 감소·증가), 조건당 5,000회: AUClast + Cmax M0 2.22~4.22%; AUCinf 쪽은 세트 (ii)(adjusted R² ≥ 0.80, 외삽 ≤ 20%, span 조건)만 계산했다. 잔차 12%는 신뢰 기준 미달만 계산했다(세트 (i) 13.4% → 5.8%; 세트 (iii)은 표). 결론: 계산한 범위에서 AUClast + Cmax 점추정의 5% 초과는 2020 모델 V2 조건뿐이고, AUCinf 쪽의 신뢰 기준 미달과 5% 초과는 조건을 바꿔도 남는다.
관련 보고서: 5.2절, 5.3절, 5.8절, 5.9절, 5.10절, 6.5절, 부록 I(Table I-1, Table I-2, Figure I-1, Figure I-2); 예상 질의 Q16, Q20.</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곡선 모양과 Km: 정량한계 아래 말단 곡선은 관측할 수 없고, Km(표적 매개 소실의 Michaelis-Menten 상수, 결합 친화도 자체가 아님)은 두 모델 모두 0.01 mg/L로 고정되어 개인 간 변동이 없다. 이 가정은 민감도 분석으로만 확인했다: 곡선 모양 변형(2016 모델, 양 군 공통 Vmax ×0.8·×1.25, Km ×0.5·×10) 4개 모두 AUClast/AUCinf 80% 미만 대상자가 없고 5번째 백분위수는 94.7% 이상이다(S8). Km 변형의 참 외삽 중앙값은 0.40~0.67%다. 시험약 Km만 ×0.01~×100로 바꿔도 참 AUCinf 비는 0.999~1.059로 동등 한계(80~125%) 안에 머문다. 곧 Km 차이는 AUC로 검출되지 않으며 결합 유사성은 비교 분석적 평가로 입증한다(별첨 A8).
200 mg(175 mg/mL) 제형: 관측 tmax 3.0~3.1일인데 모의는 7일이고, AUClast 모의/관측은 0.82~0.91(2016 모델), 0.90~1.00(2020 모델)이다. 연구 제형이 아니어서 외부 점검으로만 보고했다. 시험 제형 300 mg(150 mg/mL) 자료는 AUClast 모의/관측 0.94~1.04(2016 모델), 1.02~1.13(2020 모델)로 노출 확인 범위 ±15% 안이다(별첨 A1). 시험약과 대조약이 모두 이 제형인지 시험 계획에서 확인한다.
NCA 엔진: 검증 범위는 NonCompart·PKNCA 두 참조 구현뿐이다(λz 창 3,054 / 3,054 일치, 최대 상대 차이 4.9×10⁻¹³). results/nca_engine에 Phoenix 출력이 없다. 보고서 3.4절은 'Phoenix 규칙 재현'이라고 적었고, Phoenix 미대조는 보고서 한계 목록(6.5절, 부록 B)에 없는 새 항목이다. 제출 전 대표 프로필 일부를 실제 Phoenix WinNonlin으로 돌려 λz 창과 AUCinf를 대조하는 것을 제안한다(미실시).
독립 QC: regulatory/tables/verification_qc.csv의 해당 행 결과가 'PENDING (sponsor)'(의뢰자 검토 대기)이고 보고서 서명 페이지는 공란이다. 이 덱과 보고서는 AI 코딩 도우미의 도움으로 작성되었으므로 담당자가 수치는 추적표(core_deck_traceability.csv, regulatory/traceability.csv)와, 본문은 결과 파일과 대조해야 한다.
인용 상태(config 파일의 status 값): config/literature_core_deck.yaml의 FDA BLA 761055 임상약리 리뷰(2016-07-29) 'search excerpt', EMA 생동 지침 'search excerpt'; config/literature_precedents.yaml의 MSB11456 시험 'search excerpt', EMA 2012 단클론항체 바이오시밀러 지침 'search excerpt'. 원문 PDF와 학술지 페이지는 분석 환경의 네트워크 정책으로 열리지 않아 검색 요약으로만 확인했다. FDA 리뷰의 쪽 번호(48쪽, 지시문 값)와 문구 'very steep target-mediated phase'는 확인되지 않았고, 같은 내용은 Kovalenko 2020 결과 절에도 있다(S4). 외부 사용 전 원문과 대조한다.
재생성 대조(scripts/63, 사전 등록 config/prereg_20260929.yaml section7, DECISIONS D-063): 개체 수준 파일이 git 밖에 있는 곡선 모양 변형과 대표 대상자 관측값을 원래 시드 규칙(scripts/10, scripts/21과 같은 기준 시드)으로 다시 만들고, 커밋된 요약·저장된 비구획 분석 결과와 대조했다. provenance.csv에는 입력 파일 해시 9개와 대조 34개가 있고 대조는 모두 일치했다(대표 대상자 관련 8개 포함). 새 모의는 없다.
의뢰자 결정 대기(결과보고 덱 S26, 보고서 7절·부록 B): 분석법 LLOQ 0.078 mg/L는 원개발사 분석법 값을 빌린 가정이다(격자 0.02~0.50 mg/L에서 AUClast/AUCinf 80% 미만 0.00~0.01%, 2016 모델). 잠정 설계값(모두 config 상태 assumption): 첫 채혈 Day 1 투여 후 0.25일, 체중 평균 75 kg·SD 9 kg, 남성 비율 50%, 층 경계 75 kg, 방문 허용 범위. 주분석 모형: 이 덱의 제안은 M1(체중 층 포함)이고 M0(층 없음)를 함께 보고한다. 목표 검정력과 n: arm당 무작위배정 130명, 평가 가능 117명; CV 43%, 참 GMR 0.95에서 AUClast + Cmax 검정력 94.5%(M1), 94.0%(M0). 목표 90%에 평가 가능 97명(M1), 100명(M0), 목표 85%에 83명(M1), 85명(M0). 값이 정해지면 config 한 곳을 바꾸고 전체를 다시 만든다.
그 밖에 보고서가 적은 한계: Cmax 과대예측(연구 제형 자료의 모의/관측 Cmax 1.08~1.27(2016 모델), 1.00~1.17(2020 모델); 1종 오류와 검정력 계산에 모의 Cmax를 그대로 씀), 항약물항체(ADA) 영향은 유사 하위군 민감도 분석으로만 모의, 문헌 모델(개인 자료 없음), λz 수동 검토와 중도 탈락은 모의하지 않음.
별첨 A13(규제 업무 포지션 페이퍼 7절 대응표)은 넣지 않았다. 직전 지시(포지션 페이퍼 연계 보완)의 결과와 포지션 페이퍼 자체가 저장소에 없어 대응 내용을 만들 수 없다(DECISIONS D-063, 지시 "없으면 생략").
관련 보고서: 3.4절, 4.1절, 4.2절, 5.2절, 5.6절, 5.10절, 5.11절, 6.5절, 7절, 부록 B.</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핵심 덱 입력(scripts/63, 사전 등록 config/prereg_20260929.yaml 7절, 결정 기록 D-063): 새 시험 모의는 없다. 저장된 대상자 수준 결과를 요약하고, 개체 수준 파일이 없는 곡선 모양 변형과 대표 대상자의 관측값은 원래 시드 규칙(주 시드 20260923, 태그별 파생)으로 다시 만들었다. 다시 만든 값이 커밋된 요약·저장된 비구획 분석과 다르면 멈추게 했다(허용 오차는 사전 등록에 적음).
대조 34개(results/core_deck/provenance.csv, 모두 equal): 곡선 모양 연구의 추출 5개(기본 추출과 변형 4개), 대표 대상자 모집단(두 모델, 모델마다 20,000명)의 비구획 분석 7개 열 대조 14개(결측 형태와 값), 대표 대상자 대조 8개(관측 tlast의 참 누적 AUC, 참 농도 재계산), 저장 요약 대조 7개(기본 두 모델, 정량한계 두 경우, 비례 잔차, 세트 (iii) 미달 비율 두 모델). 입력 파일 9개는 SHA-256으로 기록했다.
사전 등록은 계산 전에 커밋했다: scripts/63 실행 로그의 커밋 a14af5b에 사전 등록이 들어 있고, 코드·설정 변경이 없는 상태(git_code_clean)였으며, 로그에 적힌 사전 등록 파일의 SHA-256이 현재 파일과 같다. D-063은 이 실행 전에 결과를 내기 전 멈추거나 대체된 실행이 있었고 계산 규칙과 값은 바뀌지 않았다고 적는다.
v1.0 재현: 재현 워크플로 첫 실행(커밋 52f525b, 2026‑09‑25 UTC)은 새 GitHub 러너(ubuntu-24.04)에서 renv.lock으로 환경을 복원한 뒤 허용 오차를 미리 정한 항목(config/repro_check.yaml)을 다시 계산했다. 항목 7개가 로컬 실행(7개 통과)과 새 러너(7/7) 모두에서 통과했고 값은 유효숫자 8자리까지 같다. 이 실행은 v1.0.1 사전 등록보다 앞서므로 v1.0.1 결과(M1, 기준 세트, 시험 모집단)를 깨끗한 러너에서 다시 계산한 기록은 없다.
자동 시험(tests 워크플로): 실행 1~71은 시험 전 환경 설정 단계에서 멈췄다(renv.lock 없음 1회, JUnit 보고기의 xml2 없음 70회). 실행 72~101: 성공 21, 취소 3(같은 브랜치의 새 push로 대체), 실패 6. 실패는 건너뛴 시험을 실패로 세는 규칙(87~91)과 환경 설정(99)이었고 실행 92, 100에서 고쳤다. 기록(ci_runs_*.csv, GitHub Actions API)의 마지막 실행 101은 성공이며, 그 뒤의 실행은 기록에 없다.
난수와 환경: 난수는 고정한 주 시드와 태그에서 derive_seed(시드, 태그, 구성 요소)로 파생하며(R/seeds.R), 규칙 버전은 실행 로그에 남는다. 패키지 버전은 renv.lock(R 4.3.3, rxode2 5.1.7, renv 1.2.4)으로 고정했다.
관련 보고서: 4.1절, 부록 C, 부록 G; 결정 기록 D-063.</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84ad7c485e4799090f7a24660f395aa908c76113.png"/>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26927b6892616af46451c9d0a7cfabc92fda3639.png"/>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35afd1d931e0e93c6b863a0f653c17142f008ffd.png"/>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cbca0cb834487a96ca26bfd3143371314c143ad8.png"/>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3ed73373e2a706e935272e5176bb2a3bd3c0a4d3.png"/>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f7e5ba7b88877794cb0a86bc635069ef64b1c6fc.png"/>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928da56d2ef1e80336c994cf29db70719cb734ab.png"/>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8980e96e5ee8c9901876f84bb449d99f98d4a531.png"/>
<Relationship Id="rId4" Type="http://schemas.openxmlformats.org/officeDocument/2006/relationships/image" Target="../media/9b06173ce749cf4c6fa10b91d7e77def4afb6f6a.png"/>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74b43d6a59854843838923eb69a4fcbcea279029.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7c68b8e8283147109b327537941a3d46f4bc5395.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20fabde2235b1a1961426e19a64b72f1dadafc8a.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2871a35d6150cd69c1a61957e53937f51cc9f426.png"/>
<Relationship Id="rId4" Type="http://schemas.openxmlformats.org/officeDocument/2006/relationships/image" Target="../media/e26cf5ad9e9d0c07c7ab3832ca271e6d114e14d0.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1d51d696213458781adb3f15cdded109dd47c73c.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a4442ec4fd9f87cb46692bb04680a1ab71384f36.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a:spLocks noGrp="1"/>
          </p:cNvSpPr>
          <p:nvPr/>
        </p:nvSpPr>
        <p:spPr>
          <a:xfrm>
            <a:off x="0" y="0"/>
            <a:ext cx="12191695" cy="6858000"/>
          </a:xfrm>
          <a:prstGeom prst="rect">
            <a:avLst/>
          </a:prstGeom>
          <a:solidFill>
            <a:srgbClr val="16202B">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0"/>
              </a:spcAft>
              <a:buNone/>
            </a:pPr>
            <a:r>
              <a:rPr cap="none" sz="800" i="0" b="0" u="none">
                <a:solidFill>
                  <a:srgbClr val="0B0B0B">
                    <a:alpha val="100000"/>
                  </a:srgbClr>
                </a:solidFill>
                <a:latin typeface="Pretendard"/>
                <a:cs typeface="Pretendard"/>
                <a:ea typeface="Pretendard"/>
                <a:sym typeface="Pretendard"/>
              </a:rPr>
              <a:t> </a:t>
            </a:r>
          </a:p>
        </p:txBody>
      </p:sp>
      <p:sp>
        <p:nvSpPr>
          <p:cNvPr id="3" name="kicker"/>
          <p:cNvSpPr>
            <a:spLocks noGrp="1"/>
          </p:cNvSpPr>
          <p:nvPr/>
        </p:nvSpPr>
        <p:spPr>
          <a:xfrm>
            <a:off x="502920" y="1097280"/>
            <a:ext cx="10607040" cy="411480"/>
          </a:xfrm>
          <a:prstGeom prst="rect">
            <a:avLst/>
          </a:prstGeom>
        </p:spPr>
        <p:txBody>
          <a:bodyPr/>
          <a:lstStyle/>
          <a:p>
            <a:pPr algn="l" marL="0" marR="0" eaLnBrk="0">
              <a:lnSpc>
                <a:spcPct val="110000"/>
              </a:lnSpc>
              <a:spcBef>
                <a:spcPts val="0"/>
              </a:spcBef>
              <a:spcAft>
                <a:spcPts val="600"/>
              </a:spcAft>
              <a:buNone/>
            </a:pPr>
            <a:r>
              <a:rPr cap="none" sz="1800" i="0" b="1" u="none">
                <a:solidFill>
                  <a:srgbClr val="8FB8EA">
                    <a:alpha val="100000"/>
                  </a:srgbClr>
                </a:solidFill>
                <a:latin typeface="Pretendard"/>
                <a:cs typeface="Pretendard"/>
                <a:ea typeface="Pretendard"/>
                <a:sym typeface="Pretendard"/>
              </a:rPr>
              <a:t>사내 검토용 핵심 덱 · 임상약리·임상개발</a:t>
            </a:r>
          </a:p>
        </p:txBody>
      </p:sp>
      <p:sp>
        <p:nvSpPr>
          <p:cNvPr id="4" name="title"/>
          <p:cNvSpPr>
            <a:spLocks noGrp="1"/>
          </p:cNvSpPr>
          <p:nvPr/>
        </p:nvSpPr>
        <p:spPr>
          <a:xfrm>
            <a:off x="502920" y="1600200"/>
            <a:ext cx="10972800" cy="1371600"/>
          </a:xfrm>
          <a:prstGeom prst="rect">
            <a:avLst/>
          </a:prstGeom>
        </p:spPr>
        <p:txBody>
          <a:bodyPr/>
          <a:lstStyle/>
          <a:p>
            <a:pPr algn="l" marL="0" marR="0" eaLnBrk="0">
              <a:lnSpc>
                <a:spcPct val="105000"/>
              </a:lnSpc>
              <a:spcBef>
                <a:spcPts val="0"/>
              </a:spcBef>
              <a:spcAft>
                <a:spcPts val="0"/>
              </a:spcAft>
              <a:buNone/>
            </a:pPr>
            <a:r>
              <a:rPr cap="none" sz="3600" i="0" b="1" u="none">
                <a:solidFill>
                  <a:srgbClr val="F4F6F8">
                    <a:alpha val="100000"/>
                  </a:srgbClr>
                </a:solidFill>
                <a:latin typeface="Pretendard"/>
                <a:cs typeface="Pretendard"/>
                <a:ea typeface="Pretendard"/>
                <a:sym typeface="Pretendard"/>
              </a:rPr>
              <a:t>두필루맙 바이오시밀러 1⁠상 비교 PK 시험: AUCinf⁠는 1⁠차 평가변수로 적절하지 않다</a:t>
            </a:r>
          </a:p>
        </p:txBody>
      </p:sp>
      <p:sp>
        <p:nvSpPr>
          <p:cNvPr id="5" name="subtitle"/>
          <p:cNvSpPr>
            <a:spLocks noGrp="1"/>
          </p:cNvSpPr>
          <p:nvPr/>
        </p:nvSpPr>
        <p:spPr>
          <a:xfrm>
            <a:off x="502920" y="3154680"/>
            <a:ext cx="10972800" cy="914400"/>
          </a:xfrm>
          <a:prstGeom prst="rect">
            <a:avLst/>
          </a:prstGeom>
        </p:spPr>
        <p:txBody>
          <a:bodyPr/>
          <a:lstStyle/>
          <a:p>
            <a:pPr algn="l" marL="0" marR="0" eaLnBrk="0">
              <a:lnSpc>
                <a:spcPct val="110000"/>
              </a:lnSpc>
              <a:spcBef>
                <a:spcPts val="0"/>
              </a:spcBef>
              <a:spcAft>
                <a:spcPts val="600"/>
              </a:spcAft>
              <a:buNone/>
            </a:pPr>
            <a:r>
              <a:rPr cap="none" sz="2200" i="0" b="0" u="none">
                <a:solidFill>
                  <a:srgbClr val="D5DDE6">
                    <a:alpha val="100000"/>
                  </a:srgbClr>
                </a:solidFill>
                <a:latin typeface="Pretendard"/>
                <a:cs typeface="Pretendard"/>
                <a:ea typeface="Pretendard"/>
                <a:sym typeface="Pretendard"/>
              </a:rPr>
              <a:t>원개발사 공개 모집단 PK 모델로 계획 시험을 모의한 정량 근거(건강인 60~90 ⁠kg, 300 ⁠mg 단회 피하, 현행 채혈 일정)</a:t>
            </a:r>
          </a:p>
        </p:txBody>
      </p:sp>
      <p:sp>
        <p:nvSpPr>
          <p:cNvPr id="6" name="glossary"/>
          <p:cNvSpPr>
            <a:spLocks noGrp="1"/>
          </p:cNvSpPr>
          <p:nvPr/>
        </p:nvSpPr>
        <p:spPr>
          <a:xfrm>
            <a:off x="502920" y="4343400"/>
            <a:ext cx="10972800" cy="960120"/>
          </a:xfrm>
          <a:prstGeom prst="rect">
            <a:avLst/>
          </a:prstGeom>
        </p:spPr>
        <p:txBody>
          <a:bodyPr/>
          <a:lstStyle/>
          <a:p>
            <a:pPr algn="l" marL="0" marR="0" eaLnBrk="0">
              <a:lnSpc>
                <a:spcPct val="110000"/>
              </a:lnSpc>
              <a:spcBef>
                <a:spcPts val="0"/>
              </a:spcBef>
              <a:spcAft>
                <a:spcPts val="200"/>
              </a:spcAft>
              <a:buNone/>
            </a:pPr>
            <a:r>
              <a:rPr cap="none" sz="1800" i="0" b="0" u="none">
                <a:solidFill>
                  <a:srgbClr val="AAB6C2">
                    <a:alpha val="100000"/>
                  </a:srgbClr>
                </a:solidFill>
                <a:latin typeface="Pretendard"/>
                <a:cs typeface="Pretendard"/>
                <a:ea typeface="Pretendard"/>
                <a:sym typeface="Pretendard"/>
              </a:rPr>
              <a:t>PK 약동학 · Cmax 최고 혈중농도</a:t>
            </a:r>
          </a:p>
          <a:p>
            <a:pPr algn="l" marL="0" marR="0" eaLnBrk="0">
              <a:lnSpc>
                <a:spcPct val="110000"/>
              </a:lnSpc>
              <a:spcBef>
                <a:spcPts val="0"/>
              </a:spcBef>
              <a:spcAft>
                <a:spcPts val="200"/>
              </a:spcAft>
              <a:buNone/>
            </a:pPr>
            <a:r>
              <a:rPr cap="none" sz="1800" i="0" b="0" u="none">
                <a:solidFill>
                  <a:srgbClr val="AAB6C2">
                    <a:alpha val="100000"/>
                  </a:srgbClr>
                </a:solidFill>
                <a:latin typeface="Pretendard"/>
                <a:cs typeface="Pretendard"/>
                <a:ea typeface="Pretendard"/>
                <a:sym typeface="Pretendard"/>
              </a:rPr>
              <a:t>AUClast 마지막 정량 시점까지의 곡선하 면적 · AUCinf 무한대까지 외삽한 곡선하 면적</a:t>
            </a:r>
          </a:p>
        </p:txBody>
      </p:sp>
      <p:sp>
        <p:nvSpPr>
          <p:cNvPr id="7" name="caption_meta"/>
          <p:cNvSpPr>
            <a:spLocks noGrp="1"/>
          </p:cNvSpPr>
          <p:nvPr/>
        </p:nvSpPr>
        <p:spPr>
          <a:xfrm>
            <a:off x="502920" y="5623560"/>
            <a:ext cx="7315200" cy="411480"/>
          </a:xfrm>
          <a:prstGeom prst="rect">
            <a:avLst/>
          </a:prstGeom>
        </p:spPr>
        <p:txBody>
          <a:bodyPr/>
          <a:lstStyle/>
          <a:p>
            <a:pPr algn="l" marL="0" marR="0" eaLnBrk="0">
              <a:lnSpc>
                <a:spcPct val="110000"/>
              </a:lnSpc>
              <a:spcBef>
                <a:spcPts val="0"/>
              </a:spcBef>
              <a:spcAft>
                <a:spcPts val="600"/>
              </a:spcAft>
              <a:buNone/>
            </a:pPr>
            <a:r>
              <a:rPr cap="none" sz="1600" i="0" b="0" u="none">
                <a:solidFill>
                  <a:srgbClr val="AAB6C2">
                    <a:alpha val="100000"/>
                  </a:srgbClr>
                </a:solidFill>
                <a:latin typeface="Pretendard"/>
                <a:cs typeface="Pretendard"/>
                <a:ea typeface="Pretendard"/>
                <a:sym typeface="Pretendard"/>
              </a:rPr>
              <a:t>v1.1  ·  2026-09-29</a:t>
            </a:r>
          </a:p>
        </p:txBody>
      </p:sp>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9AA6B2">
                    <a:alpha val="100000"/>
                  </a:srgbClr>
                </a:solidFill>
                <a:latin typeface="Pretendard"/>
                <a:cs typeface="Pretendard"/>
                <a:ea typeface="Pretendard"/>
                <a:sym typeface="Pretendard"/>
              </a:rPr>
              <a:t>출처: trial_design.yaml</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9AA6B2">
                    <a:alpha val="100000"/>
                  </a:srgbClr>
                </a:solidFill>
                <a:latin typeface="Pretendard"/>
                <a:cs typeface="Pretendard"/>
                <a:ea typeface="Pretendard"/>
                <a:sym typeface="Pretendard"/>
              </a:rPr>
              <a:t>v1.1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결론</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AUCinf⁠는 1⁠차 평가변수로 적절하지 않다: 신뢰할 수 있는 값이 적고, AUClast⁠로 충분하며, 판정이 흔들린다</a:t>
            </a:r>
          </a:p>
        </p:txBody>
      </p:sp>
      <p:sp>
        <p:nvSpPr>
          <p:cNvPr id="5" name="card"/>
          <p:cNvSpPr>
            <a:spLocks noGrp="1"/>
          </p:cNvSpPr>
          <p:nvPr/>
        </p:nvSpPr>
        <p:spPr>
          <a:xfrm>
            <a:off x="502920" y="1865376"/>
            <a:ext cx="3576218" cy="3154680"/>
          </a:xfrm>
          <a:prstGeom prst="roundRect">
            <a:avLst>
              <a:gd name="adj" fmla="val 2899"/>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① AUCinf 신뢰 기준 미달</a:t>
            </a:r>
          </a:p>
        </p:txBody>
      </p:sp>
      <p:sp>
        <p:nvSpPr>
          <p:cNvPr id="6" name="cmid_cardval"/>
          <p:cNvSpPr>
            <a:spLocks noGrp="1"/>
          </p:cNvSpPr>
          <p:nvPr/>
        </p:nvSpPr>
        <p:spPr>
          <a:xfrm>
            <a:off x="502920" y="2350008"/>
            <a:ext cx="3576218" cy="2615184"/>
          </a:xfrm>
          <a:prstGeom prst="rect">
            <a:avLst/>
          </a:prstGeom>
          <a:solidFill>
            <a:srgbClr val="FDF0EA">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95000"/>
              </a:lnSpc>
              <a:spcBef>
                <a:spcPts val="0"/>
              </a:spcBef>
              <a:spcAft>
                <a:spcPts val="600"/>
              </a:spcAft>
              <a:buNone/>
            </a:pPr>
            <a:r>
              <a:rPr cap="none" sz="4800" i="0" b="1" u="none">
                <a:solidFill>
                  <a:srgbClr val="EB6834">
                    <a:alpha val="100000"/>
                  </a:srgbClr>
                </a:solidFill>
                <a:latin typeface="Pretendard"/>
                <a:cs typeface="Pretendard"/>
                <a:ea typeface="Pretendard"/>
                <a:sym typeface="Pretendard"/>
              </a:rPr>
              <a:t>33~39%</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신뢰할 수 있는 AUCinf(adjusted R² ≥ ⁠0.90, 외삽 ≤ ⁠20%)⁠를 얻지 못한 대상자, 두 모델</a:t>
            </a:r>
          </a:p>
        </p:txBody>
      </p:sp>
      <p:sp>
        <p:nvSpPr>
          <p:cNvPr id="7" name="card"/>
          <p:cNvSpPr>
            <a:spLocks noGrp="1"/>
          </p:cNvSpPr>
          <p:nvPr/>
        </p:nvSpPr>
        <p:spPr>
          <a:xfrm>
            <a:off x="4307738" y="1865376"/>
            <a:ext cx="3576218" cy="3154680"/>
          </a:xfrm>
          <a:prstGeom prst="roundRect">
            <a:avLst>
              <a:gd name="adj" fmla="val 2899"/>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② AUClast/AUCinf (참값)</a:t>
            </a:r>
          </a:p>
        </p:txBody>
      </p:sp>
      <p:sp>
        <p:nvSpPr>
          <p:cNvPr id="8" name="cmid_cardval"/>
          <p:cNvSpPr>
            <a:spLocks noGrp="1"/>
          </p:cNvSpPr>
          <p:nvPr/>
        </p:nvSpPr>
        <p:spPr>
          <a:xfrm>
            <a:off x="4307738" y="2350008"/>
            <a:ext cx="3576218" cy="2615184"/>
          </a:xfrm>
          <a:prstGeom prst="rect">
            <a:avLst/>
          </a:prstGeom>
          <a:solidFill>
            <a:srgbClr val="EAF2FC">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95000"/>
              </a:lnSpc>
              <a:spcBef>
                <a:spcPts val="0"/>
              </a:spcBef>
              <a:spcAft>
                <a:spcPts val="600"/>
              </a:spcAft>
              <a:buNone/>
            </a:pPr>
            <a:r>
              <a:rPr cap="none" sz="4800" i="0" b="1" u="none">
                <a:solidFill>
                  <a:srgbClr val="2A78D6">
                    <a:alpha val="100000"/>
                  </a:srgbClr>
                </a:solidFill>
                <a:latin typeface="Pretendard"/>
                <a:cs typeface="Pretendard"/>
                <a:ea typeface="Pretendard"/>
                <a:sym typeface="Pretendard"/>
              </a:rPr>
              <a:t>84% 이상</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기본 조건의 모든 대상자(두 모델), 중앙값 99%</a:t>
            </a:r>
          </a:p>
        </p:txBody>
      </p:sp>
      <p:sp>
        <p:nvSpPr>
          <p:cNvPr id="9" name="card"/>
          <p:cNvSpPr>
            <a:spLocks noGrp="1"/>
          </p:cNvSpPr>
          <p:nvPr/>
        </p:nvSpPr>
        <p:spPr>
          <a:xfrm>
            <a:off x="8112557" y="1865376"/>
            <a:ext cx="3576218" cy="3154680"/>
          </a:xfrm>
          <a:prstGeom prst="roundRect">
            <a:avLst>
              <a:gd name="adj" fmla="val 2899"/>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③ 경계 1⁠종 오류 최대</a:t>
            </a:r>
          </a:p>
        </p:txBody>
      </p:sp>
      <p:sp>
        <p:nvSpPr>
          <p:cNvPr id="10" name="cmid_cardval"/>
          <p:cNvSpPr>
            <a:spLocks noGrp="1"/>
          </p:cNvSpPr>
          <p:nvPr/>
        </p:nvSpPr>
        <p:spPr>
          <a:xfrm>
            <a:off x="8112557" y="2350008"/>
            <a:ext cx="3576218" cy="2615184"/>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95000"/>
              </a:lnSpc>
              <a:spcBef>
                <a:spcPts val="0"/>
              </a:spcBef>
              <a:spcAft>
                <a:spcPts val="600"/>
              </a:spcAft>
              <a:buNone/>
            </a:pPr>
            <a:r>
              <a:rPr cap="none" sz="4000" i="0" b="1" u="none">
                <a:solidFill>
                  <a:srgbClr val="EB6834">
                    <a:alpha val="100000"/>
                  </a:srgbClr>
                </a:solidFill>
                <a:latin typeface="Pretendard"/>
                <a:cs typeface="Pretendard"/>
                <a:ea typeface="Pretendard"/>
                <a:sym typeface="Pretendard"/>
              </a:rPr>
              <a:t>17.5%</a:t>
            </a:r>
            <a:r>
              <a:rPr cap="none" sz="1800" i="0" b="0" u="none">
                <a:solidFill>
                  <a:srgbClr val="52514E">
                    <a:alpha val="100000"/>
                  </a:srgbClr>
                </a:solidFill>
                <a:latin typeface="Pretendard"/>
                <a:cs typeface="Pretendard"/>
                <a:ea typeface="Pretendard"/>
                <a:sym typeface="Pretendard"/>
              </a:rPr>
              <a:t>  AUCinf + Cmax</a:t>
            </a:r>
          </a:p>
          <a:p>
            <a:pPr algn="l" marL="0" marR="0" eaLnBrk="0">
              <a:lnSpc>
                <a:spcPct val="95000"/>
              </a:lnSpc>
              <a:spcBef>
                <a:spcPts val="0"/>
              </a:spcBef>
              <a:spcAft>
                <a:spcPts val="600"/>
              </a:spcAft>
              <a:buNone/>
            </a:pPr>
            <a:r>
              <a:rPr cap="none" sz="4000" i="0" b="1" u="none">
                <a:solidFill>
                  <a:srgbClr val="2A78D6">
                    <a:alpha val="100000"/>
                  </a:srgbClr>
                </a:solidFill>
                <a:latin typeface="Pretendard"/>
                <a:cs typeface="Pretendard"/>
                <a:ea typeface="Pretendard"/>
                <a:sym typeface="Pretendard"/>
              </a:rPr>
              <a:t>5.6%</a:t>
            </a:r>
            <a:r>
              <a:rPr cap="none" sz="1800" i="0" b="0" u="none">
                <a:solidFill>
                  <a:srgbClr val="52514E">
                    <a:alpha val="100000"/>
                  </a:srgbClr>
                </a:solidFill>
                <a:latin typeface="Pretendard"/>
                <a:cs typeface="Pretendard"/>
                <a:ea typeface="Pretendard"/>
                <a:sym typeface="Pretendard"/>
              </a:rPr>
              <a:t>  AUClast + Cmax</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경계 조건 16⁠개 중 최댓값(명목 5%), 체중 층 포함 분석</a:t>
            </a:r>
          </a:p>
        </p:txBody>
      </p:sp>
      <p:sp>
        <p:nvSpPr>
          <p:cNvPr id="11" name="cmid_body_conclusion"/>
          <p:cNvSpPr>
            <a:spLocks noGrp="1"/>
          </p:cNvSpPr>
          <p:nvPr/>
        </p:nvSpPr>
        <p:spPr>
          <a:xfrm>
            <a:off x="502920" y="5340096"/>
            <a:ext cx="11185855" cy="603504"/>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ctr" marL="0" marR="0" eaLnBrk="0">
              <a:lnSpc>
                <a:spcPct val="110000"/>
              </a:lnSpc>
              <a:spcBef>
                <a:spcPts val="0"/>
              </a:spcBef>
              <a:spcAft>
                <a:spcPts val="600"/>
              </a:spcAft>
              <a:buNone/>
            </a:pPr>
            <a:r>
              <a:rPr cap="none" sz="2400" i="0" b="1" u="none">
                <a:solidFill>
                  <a:srgbClr val="0B0B0B">
                    <a:alpha val="100000"/>
                  </a:srgbClr>
                </a:solidFill>
                <a:latin typeface="Pretendard"/>
                <a:cs typeface="Pretendard"/>
                <a:ea typeface="Pretendard"/>
                <a:sym typeface="Pretendard"/>
              </a:rPr>
              <a:t>AUCinf⁠는 계산해서 보고하되, 1⁠차 평가변수는 AUClast + Cmax</a:t>
            </a:r>
          </a:p>
        </p:txBody>
      </p:sp>
      <p:sp>
        <p:nvSpPr>
          <p:cNvPr id="12"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tp_failure_by_set.csv, tp_coverage_individual.csv, criteria_g2_type1.csv, type1_models.csv, prereg_20260926.yaml 외 1개</a:t>
            </a:r>
          </a:p>
        </p:txBody>
      </p:sp>
      <p:sp>
        <p:nvSpPr>
          <p:cNvPr id="13"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질문과 방법</a:t>
            </a:r>
          </a:p>
        </p:txBody>
      </p:sp>
      <p:sp>
        <p:nvSpPr>
          <p:cNvPr id="4" name="title"/>
          <p:cNvSpPr>
            <a:spLocks noGrp="1"/>
          </p:cNvSpPr>
          <p:nvPr/>
        </p:nvSpPr>
        <p:spPr>
          <a:xfrm>
            <a:off x="502920" y="603504"/>
            <a:ext cx="11094415" cy="576072"/>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계획 시험을 모의하고 비구획 분석 값을 모델 참값과 비교했다</a:t>
            </a:r>
          </a:p>
        </p:txBody>
      </p:sp>
      <p:sp>
        <p:nvSpPr>
          <p:cNvPr id="5" name="body_question"/>
          <p:cNvSpPr>
            <a:spLocks noGrp="1"/>
          </p:cNvSpPr>
          <p:nvPr/>
        </p:nvSpPr>
        <p:spPr>
          <a:xfrm>
            <a:off x="502920" y="1325880"/>
            <a:ext cx="11185855" cy="512064"/>
          </a:xfrm>
          <a:prstGeom prst="rect">
            <a:avLst/>
          </a:prstGeom>
          <a:solidFill>
            <a:srgbClr val="F3F3F1">
              <a:alpha val="100000"/>
            </a:srgbClr>
          </a:solidFill>
          <a:ln w="0" cap="rnd" cmpd="sng">
            <a:noFill/>
            <a:prstDash val="solid"/>
            <a:round/>
            <a:headEnd type="none" w="med" len="med"/>
            <a:tailEnd type="none" w="med" len="med"/>
          </a:ln>
        </p:spPr>
        <p:txBody>
          <a:bodyPr anchor="ctr"/>
          <a:lstStyle/>
          <a:p>
            <a:pPr algn="l" marL="0" marR="0" eaLnBrk="0">
              <a:lnSpc>
                <a:spcPct val="110000"/>
              </a:lnSpc>
              <a:spcBef>
                <a:spcPts val="0"/>
              </a:spcBef>
              <a:spcAft>
                <a:spcPts val="600"/>
              </a:spcAft>
              <a:buNone/>
            </a:pPr>
            <a:r>
              <a:rPr cap="none" sz="2000" i="0" b="1" u="none">
                <a:solidFill>
                  <a:srgbClr val="0B0B0B">
                    <a:alpha val="100000"/>
                  </a:srgbClr>
                </a:solidFill>
                <a:latin typeface="Pretendard"/>
                <a:cs typeface="Pretendard"/>
                <a:ea typeface="Pretendard"/>
                <a:sym typeface="Pretendard"/>
              </a:rPr>
              <a:t>질문: 계획 시험에서 AUCinf⁠를 1⁠차 평가변수로 쓸 수 있는가, AUClast + Cmax⁠로 충분한가</a:t>
            </a:r>
          </a:p>
        </p:txBody>
      </p:sp>
      <p:sp>
        <p:nvSpPr>
          <p:cNvPr id="6" name="cmid_diag_head"/>
          <p:cNvSpPr>
            <a:spLocks noGrp="1"/>
          </p:cNvSpPr>
          <p:nvPr/>
        </p:nvSpPr>
        <p:spPr>
          <a:xfrm>
            <a:off x="502920" y="2020824"/>
            <a:ext cx="2788920" cy="820674"/>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600"/>
              </a:spcAft>
              <a:buNone/>
            </a:pPr>
            <a:r>
              <a:rPr cap="none" sz="2000" i="0" b="1" u="none">
                <a:solidFill>
                  <a:srgbClr val="0B0B0B">
                    <a:alpha val="100000"/>
                  </a:srgbClr>
                </a:solidFill>
                <a:latin typeface="Pretendard"/>
                <a:cs typeface="Pretendard"/>
                <a:ea typeface="Pretendard"/>
                <a:sym typeface="Pretendard"/>
              </a:rPr>
              <a:t>공개 모집단 PK 모델</a:t>
            </a:r>
          </a:p>
        </p:txBody>
      </p:sp>
      <p:sp>
        <p:nvSpPr>
          <p:cNvPr id="7" name="cmid_diag_text"/>
          <p:cNvSpPr>
            <a:spLocks noGrp="1"/>
          </p:cNvSpPr>
          <p:nvPr/>
        </p:nvSpPr>
        <p:spPr>
          <a:xfrm>
            <a:off x="3401568" y="2020824"/>
            <a:ext cx="8287207" cy="820674"/>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600"/>
              </a:spcAft>
              <a:buNone/>
            </a:pPr>
            <a:r>
              <a:rPr cap="none" sz="1800" i="0" b="0" u="none">
                <a:solidFill>
                  <a:srgbClr val="0B0B0B">
                    <a:alpha val="100000"/>
                  </a:srgbClr>
                </a:solidFill>
                <a:latin typeface="Pretendard"/>
                <a:cs typeface="Pretendard"/>
                <a:ea typeface="Pretendard"/>
                <a:sym typeface="Pretendard"/>
              </a:rPr>
              <a:t>2016 ⁠모델(주 모델, Kovalenko 2016)⁠과 2020 ⁠모델(민감도 모델, Kovalenko 2020 Model 1), 논문 파라미터 그대로</a:t>
            </a:r>
          </a:p>
        </p:txBody>
      </p:sp>
      <p:sp>
        <p:nvSpPr>
          <p:cNvPr id="8" name="arrow"/>
          <p:cNvSpPr>
            <a:spLocks noGrp="1"/>
          </p:cNvSpPr>
          <p:nvPr/>
        </p:nvSpPr>
        <p:spPr>
          <a:xfrm>
            <a:off x="1751076" y="2850642"/>
            <a:ext cx="292608" cy="146304"/>
          </a:xfrm>
          <a:prstGeom prst="downArrow">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 </a:t>
            </a:r>
          </a:p>
        </p:txBody>
      </p:sp>
      <p:sp>
        <p:nvSpPr>
          <p:cNvPr id="9" name="cmid_diag_head"/>
          <p:cNvSpPr>
            <a:spLocks noGrp="1"/>
          </p:cNvSpPr>
          <p:nvPr/>
        </p:nvSpPr>
        <p:spPr>
          <a:xfrm>
            <a:off x="502920" y="3006090"/>
            <a:ext cx="2788920" cy="820674"/>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600"/>
              </a:spcAft>
              <a:buNone/>
            </a:pPr>
            <a:r>
              <a:rPr cap="none" sz="2000" i="0" b="1" u="none">
                <a:solidFill>
                  <a:srgbClr val="0B0B0B">
                    <a:alpha val="100000"/>
                  </a:srgbClr>
                </a:solidFill>
                <a:latin typeface="Pretendard"/>
                <a:cs typeface="Pretendard"/>
                <a:ea typeface="Pretendard"/>
                <a:sym typeface="Pretendard"/>
              </a:rPr>
              <a:t>계획 시험 모의</a:t>
            </a:r>
          </a:p>
        </p:txBody>
      </p:sp>
      <p:sp>
        <p:nvSpPr>
          <p:cNvPr id="10" name="cmid_diag_text"/>
          <p:cNvSpPr>
            <a:spLocks noGrp="1"/>
          </p:cNvSpPr>
          <p:nvPr/>
        </p:nvSpPr>
        <p:spPr>
          <a:xfrm>
            <a:off x="3401568" y="3006090"/>
            <a:ext cx="8287207" cy="820674"/>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600"/>
              </a:spcAft>
              <a:buNone/>
            </a:pPr>
            <a:r>
              <a:rPr cap="none" sz="1800" i="0" b="0" u="none">
                <a:solidFill>
                  <a:srgbClr val="0B0B0B">
                    <a:alpha val="100000"/>
                  </a:srgbClr>
                </a:solidFill>
                <a:latin typeface="Pretendard"/>
                <a:cs typeface="Pretendard"/>
                <a:ea typeface="Pretendard"/>
                <a:sym typeface="Pretendard"/>
              </a:rPr>
              <a:t>건강인 60~90 ⁠kg 체중 층화, 300 ⁠mg 단회 피하, Syneos 채혈 13⁠회(Day ⁠57⁠까지), arm⁠당 117⁠명</a:t>
            </a:r>
          </a:p>
        </p:txBody>
      </p:sp>
      <p:sp>
        <p:nvSpPr>
          <p:cNvPr id="11" name="arrow"/>
          <p:cNvSpPr>
            <a:spLocks noGrp="1"/>
          </p:cNvSpPr>
          <p:nvPr/>
        </p:nvSpPr>
        <p:spPr>
          <a:xfrm>
            <a:off x="1751076" y="3835908"/>
            <a:ext cx="292608" cy="146304"/>
          </a:xfrm>
          <a:prstGeom prst="downArrow">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 </a:t>
            </a:r>
          </a:p>
        </p:txBody>
      </p:sp>
      <p:sp>
        <p:nvSpPr>
          <p:cNvPr id="12" name="cmid_diag_head"/>
          <p:cNvSpPr>
            <a:spLocks noGrp="1"/>
          </p:cNvSpPr>
          <p:nvPr/>
        </p:nvSpPr>
        <p:spPr>
          <a:xfrm>
            <a:off x="502920" y="3991356"/>
            <a:ext cx="2788920" cy="820674"/>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600"/>
              </a:spcAft>
              <a:buNone/>
            </a:pPr>
            <a:r>
              <a:rPr cap="none" sz="2000" i="0" b="1" u="none">
                <a:solidFill>
                  <a:srgbClr val="0B0B0B">
                    <a:alpha val="100000"/>
                  </a:srgbClr>
                </a:solidFill>
                <a:latin typeface="Pretendard"/>
                <a:cs typeface="Pretendard"/>
                <a:ea typeface="Pretendard"/>
                <a:sym typeface="Pretendard"/>
              </a:rPr>
              <a:t>비구획 분석(NCA)</a:t>
            </a:r>
          </a:p>
        </p:txBody>
      </p:sp>
      <p:sp>
        <p:nvSpPr>
          <p:cNvPr id="13" name="cmid_diag_text"/>
          <p:cNvSpPr>
            <a:spLocks noGrp="1"/>
          </p:cNvSpPr>
          <p:nvPr/>
        </p:nvSpPr>
        <p:spPr>
          <a:xfrm>
            <a:off x="3401568" y="3991356"/>
            <a:ext cx="8287207" cy="820674"/>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600"/>
              </a:spcAft>
              <a:buNone/>
            </a:pPr>
            <a:r>
              <a:rPr cap="none" sz="1800" i="0" b="0" u="none">
                <a:solidFill>
                  <a:srgbClr val="0B0B0B">
                    <a:alpha val="100000"/>
                  </a:srgbClr>
                </a:solidFill>
                <a:latin typeface="Pretendard"/>
                <a:cs typeface="Pretendard"/>
                <a:ea typeface="Pretendard"/>
                <a:sym typeface="Pretendard"/>
              </a:rPr>
              <a:t>Phoenix 규칙. 말단 소실 속도상수(λz)⁠는 adjusted R² 최대 구간(3⁠점 이상), 정량한계 0.078 ⁠mg/L</a:t>
            </a:r>
          </a:p>
        </p:txBody>
      </p:sp>
      <p:sp>
        <p:nvSpPr>
          <p:cNvPr id="14" name="arrow"/>
          <p:cNvSpPr>
            <a:spLocks noGrp="1"/>
          </p:cNvSpPr>
          <p:nvPr/>
        </p:nvSpPr>
        <p:spPr>
          <a:xfrm>
            <a:off x="1751076" y="4821174"/>
            <a:ext cx="292608" cy="146304"/>
          </a:xfrm>
          <a:prstGeom prst="downArrow">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 </a:t>
            </a:r>
          </a:p>
        </p:txBody>
      </p:sp>
      <p:sp>
        <p:nvSpPr>
          <p:cNvPr id="15" name="cmid_diag_head"/>
          <p:cNvSpPr>
            <a:spLocks noGrp="1"/>
          </p:cNvSpPr>
          <p:nvPr/>
        </p:nvSpPr>
        <p:spPr>
          <a:xfrm>
            <a:off x="502920" y="4976622"/>
            <a:ext cx="2788920" cy="820674"/>
          </a:xfrm>
          <a:prstGeom prst="rect">
            <a:avLst/>
          </a:prstGeom>
          <a:solidFill>
            <a:srgbClr val="EAF2FC">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600"/>
              </a:spcAft>
              <a:buNone/>
            </a:pPr>
            <a:r>
              <a:rPr cap="none" sz="2000" i="0" b="1" u="none">
                <a:solidFill>
                  <a:srgbClr val="2A78D6">
                    <a:alpha val="100000"/>
                  </a:srgbClr>
                </a:solidFill>
                <a:latin typeface="Pretendard"/>
                <a:cs typeface="Pretendard"/>
                <a:ea typeface="Pretendard"/>
                <a:sym typeface="Pretendard"/>
              </a:rPr>
              <a:t>모델 참값과 비교</a:t>
            </a:r>
          </a:p>
        </p:txBody>
      </p:sp>
      <p:sp>
        <p:nvSpPr>
          <p:cNvPr id="16" name="cmid_diag_text"/>
          <p:cNvSpPr>
            <a:spLocks noGrp="1"/>
          </p:cNvSpPr>
          <p:nvPr/>
        </p:nvSpPr>
        <p:spPr>
          <a:xfrm>
            <a:off x="3401568" y="4976622"/>
            <a:ext cx="8287207" cy="820674"/>
          </a:xfrm>
          <a:prstGeom prst="rect">
            <a:avLst/>
          </a:prstGeom>
          <a:solidFill>
            <a:srgbClr val="EAF2FC">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600"/>
              </a:spcAft>
              <a:buNone/>
            </a:pPr>
            <a:r>
              <a:rPr cap="none" sz="1800" i="0" b="0" u="none">
                <a:solidFill>
                  <a:srgbClr val="0B0B0B">
                    <a:alpha val="100000"/>
                  </a:srgbClr>
                </a:solidFill>
                <a:latin typeface="Pretendard"/>
                <a:cs typeface="Pretendard"/>
                <a:ea typeface="Pretendard"/>
                <a:sym typeface="Pretendard"/>
              </a:rPr>
              <a:t>참 AUCinf = 모델 적분. 참값 기준 ⁠AUClast/AUCinf⁠와 동등성 판정의 1⁠종 오류를 계산</a:t>
            </a:r>
          </a:p>
        </p:txBody>
      </p:sp>
      <p:sp>
        <p:nvSpPr>
          <p:cNvPr id="17" name="body"/>
          <p:cNvSpPr>
            <a:spLocks noGrp="1"/>
          </p:cNvSpPr>
          <p:nvPr/>
        </p:nvSpPr>
        <p:spPr>
          <a:xfrm>
            <a:off x="502920" y="5843016"/>
            <a:ext cx="11185855" cy="411480"/>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모델은 연구 제형 300 ⁠mg⁠의 관측 AUClast⁠를 ±15% 안에서 재현한다(별첨 A1).</a:t>
            </a:r>
          </a:p>
        </p:txBody>
      </p:sp>
      <p:sp>
        <p:nvSpPr>
          <p:cNvPr id="1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step1b_quant_gate.csv, design_clot2021.yaml, trial_design.yaml, assay.yaml, nca_rules.yaml</a:t>
            </a:r>
          </a:p>
        </p:txBody>
      </p:sp>
      <p:sp>
        <p:nvSpPr>
          <p:cNvPr id="1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전제: 말단 절벽</a:t>
            </a:r>
          </a:p>
        </p:txBody>
      </p:sp>
      <p:sp>
        <p:nvSpPr>
          <p:cNvPr id="4" name="title"/>
          <p:cNvSpPr>
            <a:spLocks noGrp="1"/>
          </p:cNvSpPr>
          <p:nvPr/>
        </p:nvSpPr>
        <p:spPr>
          <a:xfrm>
            <a:off x="502920" y="603504"/>
            <a:ext cx="11094415" cy="576072"/>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농도가 약 0.9 ⁠mg/L 아래로 내려가면 1.4⁠일 만에 정량한계에 닿는다</a:t>
            </a:r>
          </a:p>
        </p:txBody>
      </p:sp>
      <p:sp>
        <p:nvSpPr>
          <p:cNvPr id="5" name="caption"/>
          <p:cNvSpPr>
            <a:spLocks noGrp="1"/>
          </p:cNvSpPr>
          <p:nvPr/>
        </p:nvSpPr>
        <p:spPr>
          <a:xfrm>
            <a:off x="502920" y="5649976"/>
            <a:ext cx="11185855" cy="6045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미국 식품의약국(FDA) 생물의약품 허가신청(BLA) 761055 임상약리 리뷰 p.48: "very steep target-mediated phase" (검색 발췌, 원문·쪽수 미대조)</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Kovalenko 2020: 정량한계에 가까워질수록 말단 기울기가 음의 무한대로 가며 표적 매개 구간은 거의 수직선이다.</a:t>
            </a:r>
          </a:p>
        </p:txBody>
      </p:sp>
      <p:sp>
        <p:nvSpPr>
          <p:cNvPr id="6" name="body"/>
          <p:cNvSpPr>
            <a:spLocks noGrp="1"/>
          </p:cNvSpPr>
          <p:nvPr/>
        </p:nvSpPr>
        <p:spPr>
          <a:xfrm>
            <a:off x="502920" y="4831080"/>
            <a:ext cx="11185855" cy="764032"/>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절벽 = 순간 반감기가 1⁠일 아래로 떨어진 뒤 정량한계(LLOQ, 0.078 ⁠mg/L)⁠에 닿을 때까지.</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채혈 간격(7⁠일)⁠보다 짧아, 절벽 위에 채혈점이 하나라도 있는 대상자는 20%, 둘 이상은 0%⁠다.</a:t>
            </a:r>
          </a:p>
        </p:txBody>
      </p:sp>
      <p:pic>
        <p:nvPicPr>
          <p:cNvPr id="7" name="figure_s4_cliff" descr=""/>
          <p:cNvPicPr>
            <a:picLocks noGrp="1"/>
          </p:cNvPicPr>
          <p:nvPr/>
        </p:nvPicPr>
        <p:blipFill>
          <a:blip cstate="print" r:embed="rId3"/>
          <a:stretch>
            <a:fillRect/>
          </a:stretch>
        </p:blipFill>
        <p:spPr>
          <a:xfrm>
            <a:off x="502920" y="1325880"/>
            <a:ext cx="11185855" cy="3432048"/>
          </a:xfrm>
          <a:prstGeom prst="rect">
            <a:avLst/>
          </a:prstGeom>
        </p:spPr>
      </p:pic>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cliff_summary.csv, rep_subjects.csv, cliff_points.csv, rep_profiles.csv, literature_qualitative.csv 외 4개</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① 신뢰할 수 있는 AUCinf</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adjusted R² 0.90 기준이면 대상자 33~39%⁠가 신뢰할 수 있는 AUCinf⁠를 얻지 못한다</a:t>
            </a:r>
          </a:p>
        </p:txBody>
      </p:sp>
      <p:sp>
        <p:nvSpPr>
          <p:cNvPr id="5" name="caption"/>
          <p:cNvSpPr>
            <a:spLocks noGrp="1"/>
          </p:cNvSpPr>
          <p:nvPr/>
        </p:nvSpPr>
        <p:spPr>
          <a:xfrm>
            <a:off x="502920" y="5910072"/>
            <a:ext cx="11185855" cy="344424"/>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신뢰할 수 있는 AUCinf = adjusted R² ≥ ⁠0.90, 외삽 ≤ ⁠20%. 공개 SAP(ClinicalTrials.gov): NCT04117607, NCT04441905, NCT04700163</a:t>
            </a:r>
          </a:p>
        </p:txBody>
      </p:sp>
      <p:sp>
        <p:nvSpPr>
          <p:cNvPr id="6" name="body"/>
          <p:cNvSpPr>
            <a:spLocks noGrp="1"/>
          </p:cNvSpPr>
          <p:nvPr/>
        </p:nvSpPr>
        <p:spPr>
          <a:xfrm>
            <a:off x="502920" y="4738624"/>
            <a:ext cx="11185855" cy="1116584"/>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λz⁠는 대상자의 98.5~99.4%⁠에서 산출된다. 미달은 대부분 λz 산출 불가가 아니라 신뢰 기준 미달이다.</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Phoenix⁠는 신뢰 기준을 정하지 않는다(사용자 선택 항목). 공개 통계분석계획(SAP)⁠은 0.90⁠을 쓴다.</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arm⁠당 평가 가능 117⁠명 중 신뢰할 수 있는 AUCinf⁠는 중앙값 72~78⁠명이다.</a:t>
            </a:r>
          </a:p>
        </p:txBody>
      </p:sp>
      <p:pic>
        <p:nvPicPr>
          <p:cNvPr id="7" name="figure_s5_reliable" descr=""/>
          <p:cNvPicPr>
            <a:picLocks noGrp="1"/>
          </p:cNvPicPr>
          <p:nvPr/>
        </p:nvPicPr>
        <p:blipFill>
          <a:blip cstate="print" r:embed="rId3"/>
          <a:stretch>
            <a:fillRect/>
          </a:stretch>
        </p:blipFill>
        <p:spPr>
          <a:xfrm>
            <a:off x="502920" y="1773936"/>
            <a:ext cx="11185855" cy="2891536"/>
          </a:xfrm>
          <a:prstGeom prst="rect">
            <a:avLst/>
          </a:prstGeom>
        </p:spPr>
      </p:pic>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tp_failure_by_set.csv, tp_retained_per_arm.csv, prereg_20260926.yaml, trial_design.yaml</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① 보강: 채혈로 줄지 않고, 무작위가 아니다</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채혈을 늘려도 신뢰할 수 있는 AUCinf 비율은 -⁠2.4~+1.4%p⁠만 바뀌고, 탈락자는 노출이 낮다</a:t>
            </a:r>
          </a:p>
        </p:txBody>
      </p:sp>
      <p:sp>
        <p:nvSpPr>
          <p:cNvPr id="5" name="body"/>
          <p:cNvSpPr>
            <a:spLocks noGrp="1"/>
          </p:cNvSpPr>
          <p:nvPr/>
        </p:nvSpPr>
        <p:spPr>
          <a:xfrm>
            <a:off x="502920" y="5490464"/>
            <a:ext cx="11185855" cy="764032"/>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추가 채혈의 최소 간격(3⁠일)⁠도 절벽(1.4⁠일)⁠보다 넓어, 절벽 위 두 점 이상은 채혈을 늘려도 0.04% 이하다.</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탈락자의 참 AUCinf⁠는 유지자의 0.90~0.93⁠배다: 기준 미달 대상자를 빼면 노출이 낮은 쪽이 빠진다.</a:t>
            </a:r>
          </a:p>
        </p:txBody>
      </p:sp>
      <p:pic>
        <p:nvPicPr>
          <p:cNvPr id="6" name="figure_s6_schedule_and_bias" descr=""/>
          <p:cNvPicPr>
            <a:picLocks noGrp="1"/>
          </p:cNvPicPr>
          <p:nvPr/>
        </p:nvPicPr>
        <p:blipFill>
          <a:blip cstate="print" r:embed="rId3"/>
          <a:stretch>
            <a:fillRect/>
          </a:stretch>
        </p:blipFill>
        <p:spPr>
          <a:xfrm>
            <a:off x="502920" y="1773936"/>
            <a:ext cx="11185855" cy="3643376"/>
          </a:xfrm>
          <a:prstGeom prst="rect">
            <a:avLst/>
          </a:prstGeom>
        </p:spPr>
      </p:pic>
      <p:sp>
        <p:nvSpPr>
          <p:cNvPr id="7"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reliable_iii_by_schedule.csv, cliff_summary.csv, cliff_points.csv, tp_characteristics.csv, rep_subjects.csv 외 1개</a:t>
            </a:r>
          </a:p>
        </p:txBody>
      </p:sp>
      <p:sp>
        <p:nvSpPr>
          <p:cNvPr id="8"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② 총노출 포착</a:t>
            </a:r>
          </a:p>
        </p:txBody>
      </p:sp>
      <p:sp>
        <p:nvSpPr>
          <p:cNvPr id="4" name="title"/>
          <p:cNvSpPr>
            <a:spLocks noGrp="1"/>
          </p:cNvSpPr>
          <p:nvPr/>
        </p:nvSpPr>
        <p:spPr>
          <a:xfrm>
            <a:off x="502920" y="603504"/>
            <a:ext cx="11094415" cy="576072"/>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AUClast/AUCinf⁠는 대표 대상자에서 99%, 가장 불리한 대상자도 84%⁠다</a:t>
            </a:r>
          </a:p>
        </p:txBody>
      </p:sp>
      <p:sp>
        <p:nvSpPr>
          <p:cNvPr id="5" name="caption"/>
          <p:cNvSpPr>
            <a:spLocks noGrp="1"/>
          </p:cNvSpPr>
          <p:nvPr/>
        </p:nvSpPr>
        <p:spPr>
          <a:xfrm>
            <a:off x="502920" y="5910072"/>
            <a:ext cx="11185855" cy="344424"/>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참 AUCinf⁠는 모델 적분값이다. 비구획 AUCinf⁠는 외삽 면적을 오히려 과대추정한다(2016 ⁠모델 외삽 비율 중앙값 2.7% 대 실제 0.65%).</a:t>
            </a:r>
          </a:p>
        </p:txBody>
      </p:sp>
      <p:sp>
        <p:nvSpPr>
          <p:cNvPr id="6" name="body"/>
          <p:cNvSpPr>
            <a:spLocks noGrp="1"/>
          </p:cNvSpPr>
          <p:nvPr/>
        </p:nvSpPr>
        <p:spPr>
          <a:xfrm>
            <a:off x="502920" y="5141976"/>
            <a:ext cx="11185855" cy="713232"/>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파랑은 AUClast(Day ⁠1~마지막 정량 시점 tlast), 주황은 tlast 이후 외삽 면적이다. 세 대상자는 20,000⁠명 중 AUClast/AUCinf⁠의 중앙값·5⁠번째 백분위수·최솟값이다.</a:t>
            </a:r>
          </a:p>
        </p:txBody>
      </p:sp>
      <p:pic>
        <p:nvPicPr>
          <p:cNvPr id="7" name="figure_s7_shaded_k2016" descr=""/>
          <p:cNvPicPr>
            <a:picLocks noGrp="1"/>
          </p:cNvPicPr>
          <p:nvPr/>
        </p:nvPicPr>
        <p:blipFill>
          <a:blip cstate="print" r:embed="rId3"/>
          <a:stretch>
            <a:fillRect/>
          </a:stretch>
        </p:blipFill>
        <p:spPr>
          <a:xfrm>
            <a:off x="502920" y="1325880"/>
            <a:ext cx="11185855" cy="3742944"/>
          </a:xfrm>
          <a:prstGeom prst="rect">
            <a:avLst/>
          </a:prstGeom>
        </p:spPr>
      </p:pic>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rep_subjects.csv, pillar1_coverage_B0.csv, rep_profiles.csv, rep_obs.csv, trial_design.yaml</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② 보강: 조건을 바꿔도</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AUClast/AUCinf⁠는 기본 조건 최소 84%, 모든 경우 80% 미만 0.005% 이하, 5⁠번째 백분위수 94% 이상이다</a:t>
            </a:r>
          </a:p>
        </p:txBody>
      </p:sp>
      <p:sp>
        <p:nvSpPr>
          <p:cNvPr id="5" name="caption"/>
          <p:cNvSpPr>
            <a:spLocks noGrp="1"/>
          </p:cNvSpPr>
          <p:nvPr/>
        </p:nvSpPr>
        <p:spPr>
          <a:xfrm>
            <a:off x="502920" y="5910072"/>
            <a:ext cx="11185855" cy="344424"/>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문헌 값(Clot 2021 Table 3, FDA BLA 761055 리뷰 Table 4.2.c)⁠은 비구획 평균비라 실제 커버리지의 하한이다. EMA 지침은 검색 발췌.</a:t>
            </a:r>
          </a:p>
        </p:txBody>
      </p:sp>
      <p:sp>
        <p:nvSpPr>
          <p:cNvPr id="6" name="body"/>
          <p:cNvSpPr>
            <a:spLocks noGrp="1"/>
          </p:cNvSpPr>
          <p:nvPr/>
        </p:nvSpPr>
        <p:spPr>
          <a:xfrm>
            <a:off x="502920" y="5443728"/>
            <a:ext cx="11185855" cy="411480"/>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유럽 의약품청(EMA) 생동 지침: AUClast⁠는 AUCinf⁠의 80% 이상을 덮어야 한다.</a:t>
            </a:r>
          </a:p>
        </p:txBody>
      </p:sp>
      <p:pic>
        <p:nvPicPr>
          <p:cNvPr id="7" name="figure_s8_case_ranges" descr=""/>
          <p:cNvPicPr>
            <a:picLocks noGrp="1"/>
          </p:cNvPicPr>
          <p:nvPr/>
        </p:nvPicPr>
        <p:blipFill>
          <a:blip cstate="print" r:embed="rId3"/>
          <a:stretch>
            <a:fillRect/>
          </a:stretch>
        </p:blipFill>
        <p:spPr>
          <a:xfrm>
            <a:off x="502920" y="1773936"/>
            <a:ext cx="11185855" cy="3596640"/>
          </a:xfrm>
          <a:prstGeom prst="rect">
            <a:avLst/>
          </a:prstGeom>
        </p:spPr>
      </p:pic>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title_rule.csv, coverage_by_case.csv, literature_numeric.csv, literature_core_deck.yaml, prereg_20260929.yaml</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③ 판정 안정성</a:t>
            </a:r>
          </a:p>
        </p:txBody>
      </p:sp>
      <p:sp>
        <p:nvSpPr>
          <p:cNvPr id="4" name="title"/>
          <p:cNvSpPr>
            <a:spLocks noGrp="1"/>
          </p:cNvSpPr>
          <p:nvPr/>
        </p:nvSpPr>
        <p:spPr>
          <a:xfrm>
            <a:off x="502920" y="603504"/>
            <a:ext cx="11094415" cy="576072"/>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AUCinf⁠를 1⁠차로 쓰면 판정이 흔들린다: 경계 1⁠종 오류 최대 17.5%</a:t>
            </a:r>
          </a:p>
        </p:txBody>
      </p:sp>
      <p:sp>
        <p:nvSpPr>
          <p:cNvPr id="5" name="caption"/>
          <p:cNvSpPr>
            <a:spLocks noGrp="1"/>
          </p:cNvSpPr>
          <p:nvPr/>
        </p:nvSpPr>
        <p:spPr>
          <a:xfrm>
            <a:off x="502920" y="5675376"/>
            <a:ext cx="11185855" cy="5791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경계 조건: 시험약의 기전 하나를 바꿔 참 AUCinf 비를 동등 한계(0.80, 1.25)⁠에 맞춘 가상 제품. 시험 10,000⁠회(한 조건 20,000⁠회), 분석 모형 M1(체중 층 포함).</a:t>
            </a:r>
          </a:p>
        </p:txBody>
      </p:sp>
      <p:sp>
        <p:nvSpPr>
          <p:cNvPr id="6" name="body"/>
          <p:cNvSpPr>
            <a:spLocks noGrp="1"/>
          </p:cNvSpPr>
          <p:nvPr/>
        </p:nvSpPr>
        <p:spPr>
          <a:xfrm>
            <a:off x="502920" y="4907280"/>
            <a:ext cx="11185855" cy="713232"/>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AUCinf 구성은 16⁠개 경계 조건 중 10⁠개에서 5%⁠를 넘는다(최대 17.5%). AUClast 구성은 15⁠개에서 5% 이하다(나머지 한 조건 5.6%, 별첨 A5).</a:t>
            </a:r>
          </a:p>
        </p:txBody>
      </p:sp>
      <p:pic>
        <p:nvPicPr>
          <p:cNvPr id="7" name="figure_s9_type1" descr=""/>
          <p:cNvPicPr>
            <a:picLocks noGrp="1"/>
          </p:cNvPicPr>
          <p:nvPr/>
        </p:nvPicPr>
        <p:blipFill>
          <a:blip cstate="print" r:embed="rId3"/>
          <a:stretch>
            <a:fillRect/>
          </a:stretch>
        </p:blipFill>
        <p:spPr>
          <a:xfrm>
            <a:off x="502920" y="1325880"/>
            <a:ext cx="11185855" cy="3508248"/>
          </a:xfrm>
          <a:prstGeom prst="rect">
            <a:avLst/>
          </a:prstGeom>
        </p:spPr>
      </p:pic>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criteria_g2_type1.csv, type1_models.csv, trial_design.yaml, oc_design.yaml, prereg_20260926.yaml</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결론과 제안</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1⁠차는 AUClast + Cmax, AUCinf⁠는 2⁠차로 계산·보고하며, 현행 채혈 13⁠회를 유지한다</a:t>
            </a:r>
          </a:p>
        </p:txBody>
      </p:sp>
      <p:sp>
        <p:nvSpPr>
          <p:cNvPr id="5" name="cmid_proposal"/>
          <p:cNvSpPr>
            <a:spLocks noGrp="1"/>
          </p:cNvSpPr>
          <p:nvPr/>
        </p:nvSpPr>
        <p:spPr>
          <a:xfrm>
            <a:off x="502920" y="1773936"/>
            <a:ext cx="5478628" cy="1677924"/>
          </a:xfrm>
          <a:prstGeom prst="roundRect">
            <a:avLst>
              <a:gd name="adj" fmla="val 5450"/>
            </a:avLst>
          </a:prstGeom>
          <a:solidFill>
            <a:srgbClr val="EAF2FC">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400"/>
              </a:spcAft>
              <a:buNone/>
            </a:pPr>
            <a:r>
              <a:rPr cap="none" sz="1800" i="0" b="1" u="none">
                <a:solidFill>
                  <a:srgbClr val="52514E">
                    <a:alpha val="100000"/>
                  </a:srgbClr>
                </a:solidFill>
                <a:latin typeface="Pretendard"/>
                <a:cs typeface="Pretendard"/>
                <a:ea typeface="Pretendard"/>
                <a:sym typeface="Pretendard"/>
              </a:rPr>
              <a:t>1⁠차 평가변수</a:t>
            </a:r>
          </a:p>
          <a:p>
            <a:pPr algn="l" marL="0" marR="0" eaLnBrk="0">
              <a:lnSpc>
                <a:spcPct val="100000"/>
              </a:lnSpc>
              <a:spcBef>
                <a:spcPts val="0"/>
              </a:spcBef>
              <a:spcAft>
                <a:spcPts val="600"/>
              </a:spcAft>
              <a:buNone/>
            </a:pPr>
            <a:r>
              <a:rPr cap="none" sz="2800" i="0" b="1" u="none">
                <a:solidFill>
                  <a:srgbClr val="2A78D6">
                    <a:alpha val="100000"/>
                  </a:srgbClr>
                </a:solidFill>
                <a:latin typeface="Pretendard"/>
                <a:cs typeface="Pretendard"/>
                <a:ea typeface="Pretendard"/>
                <a:sym typeface="Pretendard"/>
              </a:rPr>
              <a:t>AUClast + Cmax</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두 지표가 모두 동등 기준을 통과해야 동등</a:t>
            </a:r>
          </a:p>
        </p:txBody>
      </p:sp>
      <p:sp>
        <p:nvSpPr>
          <p:cNvPr id="6" name="cmid_proposal"/>
          <p:cNvSpPr>
            <a:spLocks noGrp="1"/>
          </p:cNvSpPr>
          <p:nvPr/>
        </p:nvSpPr>
        <p:spPr>
          <a:xfrm>
            <a:off x="6210148" y="1773936"/>
            <a:ext cx="5478628" cy="1677924"/>
          </a:xfrm>
          <a:prstGeom prst="roundRect">
            <a:avLst>
              <a:gd name="adj" fmla="val 5450"/>
            </a:avLst>
          </a:prstGeom>
          <a:solidFill>
            <a:srgbClr val="FDF0EA">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400"/>
              </a:spcAft>
              <a:buNone/>
            </a:pPr>
            <a:r>
              <a:rPr cap="none" sz="1800" i="0" b="1" u="none">
                <a:solidFill>
                  <a:srgbClr val="52514E">
                    <a:alpha val="100000"/>
                  </a:srgbClr>
                </a:solidFill>
                <a:latin typeface="Pretendard"/>
                <a:cs typeface="Pretendard"/>
                <a:ea typeface="Pretendard"/>
                <a:sym typeface="Pretendard"/>
              </a:rPr>
              <a:t>2⁠차 평가변수</a:t>
            </a:r>
          </a:p>
          <a:p>
            <a:pPr algn="l" marL="0" marR="0" eaLnBrk="0">
              <a:lnSpc>
                <a:spcPct val="100000"/>
              </a:lnSpc>
              <a:spcBef>
                <a:spcPts val="0"/>
              </a:spcBef>
              <a:spcAft>
                <a:spcPts val="600"/>
              </a:spcAft>
              <a:buNone/>
            </a:pPr>
            <a:r>
              <a:rPr cap="none" sz="2800" i="0" b="1" u="none">
                <a:solidFill>
                  <a:srgbClr val="EB6834">
                    <a:alpha val="100000"/>
                  </a:srgbClr>
                </a:solidFill>
                <a:latin typeface="Pretendard"/>
                <a:cs typeface="Pretendard"/>
                <a:ea typeface="Pretendard"/>
                <a:sym typeface="Pretendard"/>
              </a:rPr>
              <a:t>AUCinf 계산·보고</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λz 산출 전원과 신뢰할 수 있는 AUCinf 보유자, 두 분석군으로</a:t>
            </a:r>
          </a:p>
        </p:txBody>
      </p:sp>
      <p:sp>
        <p:nvSpPr>
          <p:cNvPr id="7" name="cmid_proposal"/>
          <p:cNvSpPr>
            <a:spLocks noGrp="1"/>
          </p:cNvSpPr>
          <p:nvPr/>
        </p:nvSpPr>
        <p:spPr>
          <a:xfrm>
            <a:off x="502920" y="3680460"/>
            <a:ext cx="5478628" cy="1677924"/>
          </a:xfrm>
          <a:prstGeom prst="roundRect">
            <a:avLst>
              <a:gd name="adj" fmla="val 5450"/>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400"/>
              </a:spcAft>
              <a:buNone/>
            </a:pPr>
            <a:r>
              <a:rPr cap="none" sz="1800" i="0" b="1" u="none">
                <a:solidFill>
                  <a:srgbClr val="52514E">
                    <a:alpha val="100000"/>
                  </a:srgbClr>
                </a:solidFill>
                <a:latin typeface="Pretendard"/>
                <a:cs typeface="Pretendard"/>
                <a:ea typeface="Pretendard"/>
                <a:sym typeface="Pretendard"/>
              </a:rPr>
              <a:t>채혈 일정</a:t>
            </a:r>
          </a:p>
          <a:p>
            <a:pPr algn="l" marL="0" marR="0" eaLnBrk="0">
              <a:lnSpc>
                <a:spcPct val="100000"/>
              </a:lnSpc>
              <a:spcBef>
                <a:spcPts val="0"/>
              </a:spcBef>
              <a:spcAft>
                <a:spcPts val="600"/>
              </a:spcAft>
              <a:buNone/>
            </a:pPr>
            <a:r>
              <a:rPr cap="none" sz="2800" i="0" b="1" u="none">
                <a:solidFill>
                  <a:srgbClr val="0B0B0B">
                    <a:alpha val="100000"/>
                  </a:srgbClr>
                </a:solidFill>
                <a:latin typeface="Pretendard"/>
                <a:cs typeface="Pretendard"/>
                <a:ea typeface="Pretendard"/>
                <a:sym typeface="Pretendard"/>
              </a:rPr>
              <a:t>현행 유지</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Syneos 13⁠회, Day ⁠57⁠까지. 추가·제거 후보 모두 결과 보고 전에 정한 기준 미충족(별첨 A7)</a:t>
            </a:r>
          </a:p>
        </p:txBody>
      </p:sp>
      <p:sp>
        <p:nvSpPr>
          <p:cNvPr id="8" name="cmid_proposal"/>
          <p:cNvSpPr>
            <a:spLocks noGrp="1"/>
          </p:cNvSpPr>
          <p:nvPr/>
        </p:nvSpPr>
        <p:spPr>
          <a:xfrm>
            <a:off x="6210148" y="3680460"/>
            <a:ext cx="5478628" cy="1677924"/>
          </a:xfrm>
          <a:prstGeom prst="roundRect">
            <a:avLst>
              <a:gd name="adj" fmla="val 5450"/>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400"/>
              </a:spcAft>
              <a:buNone/>
            </a:pPr>
            <a:r>
              <a:rPr cap="none" sz="1800" i="0" b="1" u="none">
                <a:solidFill>
                  <a:srgbClr val="52514E">
                    <a:alpha val="100000"/>
                  </a:srgbClr>
                </a:solidFill>
                <a:latin typeface="Pretendard"/>
                <a:cs typeface="Pretendard"/>
                <a:ea typeface="Pretendard"/>
                <a:sym typeface="Pretendard"/>
              </a:rPr>
              <a:t>AUCinf⁠를 공동 1⁠차로 요구받으면</a:t>
            </a:r>
          </a:p>
          <a:p>
            <a:pPr algn="l" marL="0" marR="0" eaLnBrk="0">
              <a:lnSpc>
                <a:spcPct val="100000"/>
              </a:lnSpc>
              <a:spcBef>
                <a:spcPts val="0"/>
              </a:spcBef>
              <a:spcAft>
                <a:spcPts val="600"/>
              </a:spcAft>
              <a:buNone/>
            </a:pPr>
            <a:r>
              <a:rPr cap="none" sz="2800" i="0" b="1" u="none">
                <a:solidFill>
                  <a:srgbClr val="0B0B0B">
                    <a:alpha val="100000"/>
                  </a:srgbClr>
                </a:solidFill>
                <a:latin typeface="Pretendard"/>
                <a:cs typeface="Pretendard"/>
                <a:ea typeface="Pretendard"/>
                <a:sym typeface="Pretendard"/>
              </a:rPr>
              <a:t>AUClast⁠를 유지한 채 추가</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AUCinf⁠만 남기지 않는다(근거 별첨 A10)</a:t>
            </a:r>
          </a:p>
        </p:txBody>
      </p:sp>
      <p:sp>
        <p:nvSpPr>
          <p:cNvPr id="9" name="body"/>
          <p:cNvSpPr>
            <a:spLocks noGrp="1"/>
          </p:cNvSpPr>
          <p:nvPr/>
        </p:nvSpPr>
        <p:spPr>
          <a:xfrm>
            <a:off x="502920" y="5541264"/>
            <a:ext cx="11185855" cy="713232"/>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근거: ① 신뢰할 수 있는 AUCinf 미확보 33~39% ② AUClast/AUCinf 84% 이상 ③ 경계 1⁠종 오류 최대 17.5% 대 5.6%</a:t>
            </a:r>
          </a:p>
        </p:txBody>
      </p:sp>
      <p:sp>
        <p:nvSpPr>
          <p:cNvPr id="10"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tp_failure_by_set.csv, tp_coverage_individual.csv, criteria_g2_type1.csv, type1_models.csv, trial_design.yaml 외 1개</a:t>
            </a:r>
          </a:p>
        </p:txBody>
      </p:sp>
      <p:sp>
        <p:nvSpPr>
          <p:cNvPr id="11"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A1 · 모델 적격성</a:t>
            </a:r>
          </a:p>
        </p:txBody>
      </p:sp>
      <p:sp>
        <p:nvSpPr>
          <p:cNvPr id="4" name="title"/>
          <p:cNvSpPr>
            <a:spLocks noGrp="1"/>
          </p:cNvSpPr>
          <p:nvPr/>
        </p:nvSpPr>
        <p:spPr>
          <a:xfrm>
            <a:off x="502920" y="603504"/>
            <a:ext cx="11094415" cy="576072"/>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두 모델은 연구 제형의 관측 AUClast 평균을 ±15% 안에서 재현한다</a:t>
            </a:r>
          </a:p>
        </p:txBody>
      </p:sp>
      <p:sp>
        <p:nvSpPr>
          <p:cNvPr id="5" name="caption"/>
          <p:cNvSpPr>
            <a:spLocks noGrp="1"/>
          </p:cNvSpPr>
          <p:nvPr/>
        </p:nvSpPr>
        <p:spPr>
          <a:xfrm>
            <a:off x="502920" y="5675376"/>
            <a:ext cx="11185855" cy="5791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음영: gate 허용 범위 ±15%(비교 전 고정). 모의/관측 = 코호트 평균 체중으로 모의한 평균 AUClast / 공개 관측 평균(Clot 2021, Li 2020, Cohen 2022). 모델 파라미터는 조정하지 않았다. Cmax⁠는 gate 밖(대부분 과대 예측, 노트).</a:t>
            </a:r>
          </a:p>
        </p:txBody>
      </p:sp>
      <p:sp>
        <p:nvSpPr>
          <p:cNvPr id="6" name="body"/>
          <p:cNvSpPr>
            <a:spLocks noGrp="1"/>
          </p:cNvSpPr>
          <p:nvPr/>
        </p:nvSpPr>
        <p:spPr>
          <a:xfrm>
            <a:off x="8321040" y="1737360"/>
            <a:ext cx="3367735" cy="3305048"/>
          </a:xfrm>
          <a:prstGeom prst="rect">
            <a:avLst/>
          </a:prstGeom>
        </p:spPr>
        <p:txBody>
          <a:bodyPr/>
          <a:lstStyle/>
          <a:p>
            <a:pPr algn="l" marL="0" marR="0" eaLnBrk="0">
              <a:lnSpc>
                <a:spcPct val="110000"/>
              </a:lnSpc>
              <a:spcBef>
                <a:spcPts val="0"/>
              </a:spcBef>
              <a:spcAft>
                <a:spcPts val="1400"/>
              </a:spcAft>
              <a:buNone/>
            </a:pPr>
            <a:r>
              <a:rPr cap="none" sz="1800" i="0" b="1" u="none">
                <a:solidFill>
                  <a:srgbClr val="0B0B0B">
                    <a:alpha val="100000"/>
                  </a:srgbClr>
                </a:solidFill>
                <a:latin typeface="Pretendard"/>
                <a:cs typeface="Pretendard"/>
                <a:ea typeface="Pretendard"/>
                <a:sym typeface="Pretendard"/>
              </a:rPr>
              <a:t>연구 제형</a:t>
            </a:r>
            <a:r>
              <a:rPr cap="none" sz="1800" i="0" b="0" u="none">
                <a:solidFill>
                  <a:srgbClr val="0B0B0B">
                    <a:alpha val="100000"/>
                  </a:srgbClr>
                </a:solidFill>
                <a:latin typeface="Pretendard"/>
                <a:cs typeface="Pretendard"/>
                <a:ea typeface="Pretendard"/>
                <a:sym typeface="Pretendard"/>
              </a:rPr>
              <a:t>(150 ⁠mg/mL 2 ⁠mL, 600 ⁠mg⁠은 두 번 주사): 자료 5⁠개의 모의/관측이 2016 ⁠모델 0.94~1.07, 2020 ⁠모델 1.02~1.13⁠이다.</a:t>
            </a:r>
          </a:p>
          <a:p>
            <a:pPr algn="l" marL="0" marR="0" eaLnBrk="0">
              <a:lnSpc>
                <a:spcPct val="110000"/>
              </a:lnSpc>
              <a:spcBef>
                <a:spcPts val="0"/>
              </a:spcBef>
              <a:spcAft>
                <a:spcPts val="1400"/>
              </a:spcAft>
              <a:buNone/>
            </a:pPr>
            <a:r>
              <a:rPr cap="none" sz="1800" i="0" b="1" u="none">
                <a:solidFill>
                  <a:srgbClr val="0B0B0B">
                    <a:alpha val="100000"/>
                  </a:srgbClr>
                </a:solidFill>
                <a:latin typeface="Pretendard"/>
                <a:cs typeface="Pretendard"/>
                <a:ea typeface="Pretendard"/>
                <a:sym typeface="Pretendard"/>
              </a:rPr>
              <a:t>200 ⁠mg 제형</a:t>
            </a:r>
            <a:r>
              <a:rPr cap="none" sz="1800" i="0" b="0" u="none">
                <a:solidFill>
                  <a:srgbClr val="0B0B0B">
                    <a:alpha val="100000"/>
                  </a:srgbClr>
                </a:solidFill>
                <a:latin typeface="Pretendard"/>
                <a:cs typeface="Pretendard"/>
                <a:ea typeface="Pretendard"/>
                <a:sym typeface="Pretendard"/>
              </a:rPr>
              <a:t>(175 ⁠mg/mL): 최고 농도 도달 시간(tmax)⁠이 관측 3.0~3.1⁠일, 모의 7⁠일로 빠른 흡수를 재현하지 못해 첫 비교 뒤 gate⁠에서 뺐다.</a:t>
            </a:r>
          </a:p>
        </p:txBody>
      </p:sp>
      <p:pic>
        <p:nvPicPr>
          <p:cNvPr id="7" name="figure_a1_qualification" descr=""/>
          <p:cNvPicPr>
            <a:picLocks noGrp="1"/>
          </p:cNvPicPr>
          <p:nvPr/>
        </p:nvPicPr>
        <p:blipFill>
          <a:blip cstate="print" r:embed="rId3"/>
          <a:stretch>
            <a:fillRect/>
          </a:stretch>
        </p:blipFill>
        <p:spPr>
          <a:xfrm>
            <a:off x="502920" y="1325880"/>
            <a:ext cx="7543800" cy="4239768"/>
          </a:xfrm>
          <a:prstGeom prst="rect">
            <a:avLst/>
          </a:prstGeom>
        </p:spPr>
      </p:pic>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step1b_quant_gate.csv, literature_numeric.csv, prespecification_register.csv, step1f_300mg_arm_check.csv, step1h_external_only_gate.csv 외 1개</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A2 · 방법 세부</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λz 신뢰 기준은 Phoenix⁠의 선택 항목이라 adjusted R² 0.80 또는 0.90⁠의 세트 ⁠(i)~(iv)⁠로 정했다</a:t>
            </a:r>
          </a:p>
        </p:txBody>
      </p:sp>
      <p:sp>
        <p:nvSpPr>
          <p:cNvPr id="5" name="label_rules"/>
          <p:cNvSpPr>
            <a:spLocks noGrp="1"/>
          </p:cNvSpPr>
          <p:nvPr/>
        </p:nvSpPr>
        <p:spPr>
          <a:xfrm>
            <a:off x="502920" y="1773936"/>
            <a:ext cx="5577840"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52514E">
                    <a:alpha val="100000"/>
                  </a:srgbClr>
                </a:solidFill>
                <a:latin typeface="Pretendard"/>
                <a:cs typeface="Pretendard"/>
                <a:ea typeface="Pretendard"/>
                <a:sym typeface="Pretendard"/>
              </a:rPr>
              <a:t>비구획 분석 규칙 ⁠(Phoenix WinNonlin 호환 엔진)</a:t>
            </a:r>
          </a:p>
        </p:txBody>
      </p:sp>
      <p:sp>
        <p:nvSpPr>
          <p:cNvPr id="6" name="body_rules"/>
          <p:cNvSpPr>
            <a:spLocks noGrp="1"/>
          </p:cNvSpPr>
          <p:nvPr/>
        </p:nvSpPr>
        <p:spPr>
          <a:xfrm>
            <a:off x="502920" y="2176272"/>
            <a:ext cx="5577840" cy="2618232"/>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800" i="0" b="1" u="none">
                <a:solidFill>
                  <a:srgbClr val="0B0B0B">
                    <a:alpha val="100000"/>
                  </a:srgbClr>
                </a:solidFill>
                <a:latin typeface="Pretendard"/>
                <a:cs typeface="Pretendard"/>
                <a:ea typeface="Pretendard"/>
                <a:sym typeface="Pretendard"/>
              </a:rPr>
              <a:t>AUClast</a:t>
            </a:r>
            <a:r>
              <a:rPr cap="none" sz="1800" i="0" b="0" u="none">
                <a:solidFill>
                  <a:srgbClr val="0B0B0B">
                    <a:alpha val="100000"/>
                  </a:srgbClr>
                </a:solidFill>
                <a:latin typeface="Pretendard"/>
                <a:cs typeface="Pretendard"/>
                <a:ea typeface="Pretendard"/>
                <a:sym typeface="Pretendard"/>
              </a:rPr>
              <a:t>: 실제 채혈 시각, 선형 증가·로그 감소 사다리꼴</a:t>
            </a:r>
          </a:p>
          <a:p>
            <a:pPr algn="l" marL="571500" marR="0" indent="-228600" eaLnBrk="0">
              <a:lnSpc>
                <a:spcPct val="110000"/>
              </a:lnSpc>
              <a:spcBef>
                <a:spcPts val="0"/>
              </a:spcBef>
              <a:spcAft>
                <a:spcPts val="800"/>
              </a:spcAft>
              <a:buClr>
                <a:srgbClr val="8A8984"/>
              </a:buClr>
              <a:buFont typeface="Arial"/>
              <a:buChar char="◦"/>
            </a:pPr>
            <a:r>
              <a:rPr cap="none" sz="1800" i="0" b="0" u="none">
                <a:solidFill>
                  <a:srgbClr val="0B0B0B">
                    <a:alpha val="100000"/>
                  </a:srgbClr>
                </a:solidFill>
                <a:latin typeface="Pretendard"/>
                <a:cs typeface="Pretendard"/>
                <a:ea typeface="Pretendard"/>
                <a:sym typeface="Pretendard"/>
              </a:rPr>
              <a:t>AUCinf = AUClast + 마지막 정량 농도(Clast) / λz</a:t>
            </a:r>
          </a:p>
          <a:p>
            <a:pPr algn="l" marL="285750" marR="0" indent="-228600" eaLnBrk="0">
              <a:lnSpc>
                <a:spcPct val="110000"/>
              </a:lnSpc>
              <a:spcBef>
                <a:spcPts val="0"/>
              </a:spcBef>
              <a:spcAft>
                <a:spcPts val="800"/>
              </a:spcAft>
              <a:buClr>
                <a:srgbClr val="2A78D6"/>
              </a:buClr>
              <a:buFont typeface="Arial"/>
              <a:buChar char="●"/>
            </a:pPr>
            <a:r>
              <a:rPr cap="none" sz="1800" i="0" b="1" u="none">
                <a:solidFill>
                  <a:srgbClr val="0B0B0B">
                    <a:alpha val="100000"/>
                  </a:srgbClr>
                </a:solidFill>
                <a:latin typeface="Pretendard"/>
                <a:cs typeface="Pretendard"/>
                <a:ea typeface="Pretendard"/>
                <a:sym typeface="Pretendard"/>
              </a:rPr>
              <a:t>정량한계 미만(BLQ)</a:t>
            </a:r>
            <a:r>
              <a:rPr cap="none" sz="1800" i="0" b="0" u="none">
                <a:solidFill>
                  <a:srgbClr val="0B0B0B">
                    <a:alpha val="100000"/>
                  </a:srgbClr>
                </a:solidFill>
                <a:latin typeface="Pretendard"/>
                <a:cs typeface="Pretendard"/>
                <a:ea typeface="Pretendard"/>
                <a:sym typeface="Pretendard"/>
              </a:rPr>
              <a:t>: 첫 정량값 전 0, 정량값 사이 결측, 마지막 정량값 뒤 제외, 두 번 연속 BLQ 뒤 정량값 결측</a:t>
            </a:r>
          </a:p>
          <a:p>
            <a:pPr algn="l" marL="285750" marR="0" indent="-228600" eaLnBrk="0">
              <a:lnSpc>
                <a:spcPct val="110000"/>
              </a:lnSpc>
              <a:spcBef>
                <a:spcPts val="0"/>
              </a:spcBef>
              <a:spcAft>
                <a:spcPts val="800"/>
              </a:spcAft>
              <a:buClr>
                <a:srgbClr val="2A78D6"/>
              </a:buClr>
              <a:buFont typeface="Arial"/>
              <a:buChar char="●"/>
            </a:pPr>
            <a:r>
              <a:rPr cap="none" sz="1800" i="0" b="1" u="none">
                <a:solidFill>
                  <a:srgbClr val="0B0B0B">
                    <a:alpha val="100000"/>
                  </a:srgbClr>
                </a:solidFill>
                <a:latin typeface="Pretendard"/>
                <a:cs typeface="Pretendard"/>
                <a:ea typeface="Pretendard"/>
                <a:sym typeface="Pretendard"/>
              </a:rPr>
              <a:t>λz</a:t>
            </a:r>
            <a:r>
              <a:rPr cap="none" sz="1800" i="0" b="0" u="none">
                <a:solidFill>
                  <a:srgbClr val="0B0B0B">
                    <a:alpha val="100000"/>
                  </a:srgbClr>
                </a:solidFill>
                <a:latin typeface="Pretendard"/>
                <a:cs typeface="Pretendard"/>
                <a:ea typeface="Pretendard"/>
                <a:sym typeface="Pretendard"/>
              </a:rPr>
              <a:t>: Cmax 뒤 3⁠점 이상 구간 중 adjusted R² 최대(차이 0.0001 미만이면 점이 많은 구간, 기울기 양수 제외)</a:t>
            </a:r>
          </a:p>
        </p:txBody>
      </p:sp>
      <p:sp>
        <p:nvSpPr>
          <p:cNvPr id="7" name="caption"/>
          <p:cNvSpPr>
            <a:spLocks noGrp="1"/>
          </p:cNvSpPr>
          <p:nvPr/>
        </p:nvSpPr>
        <p:spPr>
          <a:xfrm>
            <a:off x="502920" y="5910072"/>
            <a:ext cx="11185855" cy="344424"/>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엔진 검증: NonCompart·PKNCA⁠와 프로필 1,018⁠개 쌍별 비교, λz 구간 3,054/3,054 ⁠일치, 최대 상대 차이 4.9×10⁻¹³(Phoenix 출력과는 미대조).</a:t>
            </a:r>
          </a:p>
        </p:txBody>
      </p:sp>
      <p:sp>
        <p:nvSpPr>
          <p:cNvPr id="8" name="label_sets"/>
          <p:cNvSpPr>
            <a:spLocks noGrp="1"/>
          </p:cNvSpPr>
          <p:nvPr/>
        </p:nvSpPr>
        <p:spPr>
          <a:xfrm>
            <a:off x="6355080" y="1773936"/>
            <a:ext cx="5333695"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52514E">
                    <a:alpha val="100000"/>
                  </a:srgbClr>
                </a:solidFill>
                <a:latin typeface="Pretendard"/>
                <a:cs typeface="Pretendard"/>
                <a:ea typeface="Pretendard"/>
                <a:sym typeface="Pretendard"/>
              </a:rPr>
              <a:t>λz 신뢰 기준 세트 ⁠(사전 등록 4⁠절)</a:t>
            </a:r>
          </a:p>
        </p:txBody>
      </p:sp>
      <p:graphicFrame>
        <p:nvGraphicFramePr>
          <p:cNvPr id="9" name="table_sets"/>
          <p:cNvGraphicFramePr>
            <a:graphicFrameLocks noGrp="true"/>
          </p:cNvGraphicFramePr>
          <p:nvPr/>
        </p:nvGraphicFramePr>
        <p:xfrm rot="0">
          <a:off x="6355080" y="2176272"/>
          <a:ext cx="5333695" cy="1874520"/>
        </p:xfrm>
        <a:graphic>
          <a:graphicData uri="http://schemas.openxmlformats.org/drawingml/2006/table">
            <a:tbl>
              <a:tblPr/>
              <a:tblGrid>
                <a:gridCol w="455871"/>
                <a:gridCol w="1185266"/>
                <a:gridCol w="729394"/>
                <a:gridCol w="1094091"/>
                <a:gridCol w="1869073"/>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세트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adjusted R²</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외삽</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span</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쓰임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 ⁠0.80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 ⁠20%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없음</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관행 하한 (S5)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 ⁠0.80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 ⁠20%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 반감기 2⁠배</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엔진 기본 표시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(iii)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 ⁠0.90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 ⁠20%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신뢰할 수 있는 AUCinf</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(iv)</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 ⁠0.90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 ⁠20%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 반감기 3⁠배</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NCT04117607 조건</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10" name="body_phoenix"/>
          <p:cNvSpPr>
            <a:spLocks noGrp="1"/>
          </p:cNvSpPr>
          <p:nvPr/>
        </p:nvSpPr>
        <p:spPr>
          <a:xfrm>
            <a:off x="502920" y="4995672"/>
            <a:ext cx="11185855" cy="804672"/>
          </a:xfrm>
          <a:prstGeom prst="roundRect">
            <a:avLst>
              <a:gd name="adj" fmla="val 11364"/>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400"/>
              </a:spcAft>
              <a:buNone/>
            </a:pPr>
            <a:r>
              <a:rPr cap="none" sz="1800" i="0" b="1" u="none">
                <a:solidFill>
                  <a:srgbClr val="0B0B0B">
                    <a:alpha val="100000"/>
                  </a:srgbClr>
                </a:solidFill>
                <a:latin typeface="Pretendard"/>
                <a:cs typeface="Pretendard"/>
                <a:ea typeface="Pretendard"/>
                <a:sym typeface="Pretendard"/>
              </a:rPr>
              <a:t>Phoenix</a:t>
            </a:r>
            <a:r>
              <a:rPr cap="none" sz="1800" i="0" b="0" u="none">
                <a:solidFill>
                  <a:srgbClr val="0B0B0B">
                    <a:alpha val="100000"/>
                  </a:srgbClr>
                </a:solidFill>
                <a:latin typeface="Pretendard"/>
                <a:cs typeface="Pretendard"/>
                <a:ea typeface="Pretendard"/>
                <a:sym typeface="Pretendard"/>
              </a:rPr>
              <a:t>의 Lambda Z Acceptance Criteria⁠는 사용자 선택 항목이다: 넣지 않으면 기준이 없고, 넣어도 미충족 프로필은 표시만 되며 제외되지 않는다. 공개 통계분석계획(NCT04117607, NCT04441905)⁠은 adjusted R² ≥ ⁠0.90.</a:t>
            </a:r>
          </a:p>
        </p:txBody>
      </p:sp>
      <p:sp>
        <p:nvSpPr>
          <p:cNvPr id="11"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prespecification_register.csv, engine_validation_summary.csv, software_environment.csv, prereg_20260926.yaml, nca_rules.yaml</a:t>
            </a:r>
          </a:p>
        </p:txBody>
      </p:sp>
      <p:sp>
        <p:nvSpPr>
          <p:cNvPr id="12"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A3a · ① 세부: 기준 세트별 결과</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이 덱의 기준인 세트 ⁠(iii)⁠은 대상자 33~39%⁠가 미달하고, 기준이 가장 느슨한 세트 ⁠(i)⁠도 8~13%⁠가 미달한다</a:t>
            </a:r>
          </a:p>
        </p:txBody>
      </p:sp>
      <p:graphicFrame>
        <p:nvGraphicFramePr>
          <p:cNvPr id="5" name="table_sets"/>
          <p:cNvGraphicFramePr>
            <a:graphicFrameLocks noGrp="true"/>
          </p:cNvGraphicFramePr>
          <p:nvPr/>
        </p:nvGraphicFramePr>
        <p:xfrm rot="0">
          <a:off x="502920" y="1773936"/>
          <a:ext cx="11185855" cy="3084576"/>
        </p:xfrm>
        <a:graphic>
          <a:graphicData uri="http://schemas.openxmlformats.org/drawingml/2006/table">
            <a:tbl>
              <a:tblPr/>
              <a:tblGrid>
                <a:gridCol w="1982303"/>
                <a:gridCol w="991152"/>
                <a:gridCol w="1840710"/>
                <a:gridCol w="896756"/>
                <a:gridCol w="991152"/>
                <a:gridCol w="943954"/>
                <a:gridCol w="896756"/>
                <a:gridCol w="991152"/>
                <a:gridCol w="1651920"/>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기준 세트</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(외삽 ≤ ⁠20% 공통)</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미달</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(Wilson 95% 구간)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λz 산출 불가</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λz 산출, 기준 미달</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그중 R² 미달</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그중 외삽 초과</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그중 span 미달</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arm⁠당 충족 인원 (5~95⁠백분위)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 R² ≥ ⁠0.80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2016 ⁠모델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13.4% (13.0~13.9)</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12.0%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11.4%</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조건 없음</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101 (95~107)</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2020 ⁠모델</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8.2% (7.8~8.6)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조건 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107 (102~112)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(ii) R² ≥ ⁠0.80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2016 ⁠모델</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19.3% (18.7~19.8)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17.8%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11.4%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5.8%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94 (87~101)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 span ≥ ⁠2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2020 ⁠모델</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16.1% (15.6~16.6)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15.5%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98 (91~104)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(iii) R² ≥ ⁠0.90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2016 ⁠모델</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38.8% (38.1~39.4)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37.3%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36.8%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조건 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72 (63~80)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이 덱의 정의</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2020 ⁠모델</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33.2% (32.6~33.9)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32.6%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32.1%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조건 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78 (69~86)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(iv) R² ≥ ⁠0.90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2016 ⁠모델</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65.9% (65.2~66.5)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64.4%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36.8%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27.1%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40 (31~48)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 span ≥ ⁠3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2020 ⁠모델</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72.5% (71.8~73.1)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71.8%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32.1%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39.2%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32 (24~40)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6" name="caption"/>
          <p:cNvSpPr>
            <a:spLocks noGrp="1"/>
          </p:cNvSpPr>
          <p:nvPr/>
        </p:nvSpPr>
        <p:spPr>
          <a:xfrm>
            <a:off x="502920" y="5675376"/>
            <a:ext cx="11185855" cy="5791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R² = adjusted R², span = λz 구간 길이 ÷ 반감기. 사유는 λz 산출 불가, R², 외삽, span 순으로 하나만 센다(합 = 미달). 미달은 대상자 수준(모델마다 20,000⁠명), arm⁠당 충족(117⁠명 중)⁠은 동일 제품 시험 10,000⁠회에서 센 인원이다.</a:t>
            </a:r>
          </a:p>
        </p:txBody>
      </p:sp>
      <p:sp>
        <p:nvSpPr>
          <p:cNvPr id="7" name="body"/>
          <p:cNvSpPr>
            <a:spLocks noGrp="1"/>
          </p:cNvSpPr>
          <p:nvPr/>
        </p:nvSpPr>
        <p:spPr>
          <a:xfrm>
            <a:off x="502920" y="4931664"/>
            <a:ext cx="11185855" cy="707136"/>
          </a:xfrm>
          <a:prstGeom prst="rect">
            <a:avLst/>
          </a:prstGeom>
        </p:spPr>
        <p:txBody>
          <a:bodyPr/>
          <a:lstStyle/>
          <a:p>
            <a:pPr algn="l" marL="285750" marR="0" indent="-228600" eaLnBrk="0">
              <a:lnSpc>
                <a:spcPct val="110000"/>
              </a:lnSpc>
              <a:spcBef>
                <a:spcPts val="0"/>
              </a:spcBef>
              <a:spcAft>
                <a:spcPts val="600"/>
              </a:spcAft>
              <a:buClr>
                <a:srgbClr val="2A78D6"/>
              </a:buClr>
              <a:buFont typeface="Arial"/>
              <a:buChar char="●"/>
            </a:pPr>
            <a:r>
              <a:rPr cap="none" sz="1800" i="0" b="0" u="none">
                <a:solidFill>
                  <a:srgbClr val="0B0B0B">
                    <a:alpha val="100000"/>
                  </a:srgbClr>
                </a:solidFill>
                <a:latin typeface="Pretendard"/>
                <a:cs typeface="Pretendard"/>
                <a:ea typeface="Pretendard"/>
                <a:sym typeface="Pretendard"/>
              </a:rPr>
              <a:t>세트 ⁠(iii) 미달은 대부분 λz⁠가 산출되나 R² 기준에 못 미친 경우다(R² 미달 32.1~36.8%, λz 산출 불가 0.6~1.5%). 공개 통계분석계획(SAP) 3⁠건이 R² 0.90⁠을 쓴다(S5).</a:t>
            </a:r>
          </a:p>
        </p:txBody>
      </p:sp>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tp_failure_by_set.csv, tp_retained_per_arm.csv, tp_failure_reasons.csv, prereg_20260926.yaml, trial_design.yaml</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A3b · ① 세부: 미달은 구조적이고 무작위가 아니다</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잔차를 절반으로 줄여도 세트 ⁠(iii) 미달이 27.2% 남고, arm 간 미달 차이는 제품 차이의 기전에 따라 최대 13.0%p⁠다</a:t>
            </a:r>
          </a:p>
        </p:txBody>
      </p:sp>
      <p:sp>
        <p:nvSpPr>
          <p:cNvPr id="5" name="body"/>
          <p:cNvSpPr>
            <a:spLocks noGrp="1"/>
          </p:cNvSpPr>
          <p:nvPr/>
        </p:nvSpPr>
        <p:spPr>
          <a:xfrm>
            <a:off x="502920" y="4843272"/>
            <a:ext cx="11185855" cy="1411224"/>
          </a:xfrm>
          <a:prstGeom prst="rect">
            <a:avLst/>
          </a:prstGeom>
        </p:spPr>
        <p:txBody>
          <a:bodyPr/>
          <a:lstStyle/>
          <a:p>
            <a:pPr algn="l" marL="285750" marR="0" indent="-228600" eaLnBrk="0">
              <a:lnSpc>
                <a:spcPct val="110000"/>
              </a:lnSpc>
              <a:spcBef>
                <a:spcPts val="0"/>
              </a:spcBef>
              <a:spcAft>
                <a:spcPts val="600"/>
              </a:spcAft>
              <a:buClr>
                <a:srgbClr val="2A78D6"/>
              </a:buClr>
              <a:buFont typeface="Arial"/>
              <a:buChar char="●"/>
            </a:pPr>
            <a:r>
              <a:rPr cap="none" sz="1800" i="0" b="1" u="none">
                <a:solidFill>
                  <a:srgbClr val="0B0B0B">
                    <a:alpha val="100000"/>
                  </a:srgbClr>
                </a:solidFill>
                <a:latin typeface="Pretendard"/>
                <a:cs typeface="Pretendard"/>
                <a:ea typeface="Pretendard"/>
                <a:sym typeface="Pretendard"/>
              </a:rPr>
              <a:t>구조적</a:t>
            </a:r>
            <a:r>
              <a:rPr cap="none" sz="1800" i="0" b="0" u="none">
                <a:solidFill>
                  <a:srgbClr val="0B0B0B">
                    <a:alpha val="100000"/>
                  </a:srgbClr>
                </a:solidFill>
                <a:latin typeface="Pretendard"/>
                <a:cs typeface="Pretendard"/>
                <a:ea typeface="Pretendard"/>
                <a:sym typeface="Pretendard"/>
              </a:rPr>
              <a:t>: 비례 잔차를 24.2%⁠에서 12.0%⁠로 줄여도 세트 ⁠(iii) 미달은 38.8%⁠에서 27.2%⁠로 남고 세트 ⁠(iv)⁠는 그대로다. 정량한계를 낮추면 세트 ⁠(i) 충족이 오히려 2.3~5.9%p 준다(세트 ⁠(iii)⁠은 미계산).</a:t>
            </a:r>
          </a:p>
          <a:p>
            <a:pPr algn="l" marL="285750" marR="0" indent="-228600" eaLnBrk="0">
              <a:lnSpc>
                <a:spcPct val="110000"/>
              </a:lnSpc>
              <a:spcBef>
                <a:spcPts val="0"/>
              </a:spcBef>
              <a:spcAft>
                <a:spcPts val="600"/>
              </a:spcAft>
              <a:buClr>
                <a:srgbClr val="2A78D6"/>
              </a:buClr>
              <a:buFont typeface="Arial"/>
              <a:buChar char="●"/>
            </a:pPr>
            <a:r>
              <a:rPr cap="none" sz="1800" i="0" b="1" u="none">
                <a:solidFill>
                  <a:srgbClr val="0B0B0B">
                    <a:alpha val="100000"/>
                  </a:srgbClr>
                </a:solidFill>
                <a:latin typeface="Pretendard"/>
                <a:cs typeface="Pretendard"/>
                <a:ea typeface="Pretendard"/>
                <a:sym typeface="Pretendard"/>
              </a:rPr>
              <a:t>무작위가 아님</a:t>
            </a:r>
            <a:r>
              <a:rPr cap="none" sz="1800" i="0" b="0" u="none">
                <a:solidFill>
                  <a:srgbClr val="0B0B0B">
                    <a:alpha val="100000"/>
                  </a:srgbClr>
                </a:solidFill>
                <a:latin typeface="Pretendard"/>
                <a:cs typeface="Pretendard"/>
                <a:ea typeface="Pretendard"/>
                <a:sym typeface="Pretendard"/>
              </a:rPr>
              <a:t>: 세트 ⁠(iii) 탈락자는 참 AUCinf⁠가 유지자의 0.90~0.93⁠배이고 무거운 체중 층에서 2.0~2.3%p 더 탈락한다. arm 간 차이는 동일 제품이면 0.2%p 이내다.</a:t>
            </a:r>
          </a:p>
        </p:txBody>
      </p:sp>
      <p:pic>
        <p:nvPicPr>
          <p:cNvPr id="6" name="figure_a3b_residual" descr=""/>
          <p:cNvPicPr>
            <a:picLocks noGrp="1"/>
          </p:cNvPicPr>
          <p:nvPr/>
        </p:nvPicPr>
        <p:blipFill>
          <a:blip cstate="print" r:embed="rId3"/>
          <a:stretch>
            <a:fillRect/>
          </a:stretch>
        </p:blipFill>
        <p:spPr>
          <a:xfrm>
            <a:off x="502920" y="1773936"/>
            <a:ext cx="3429000" cy="2977896"/>
          </a:xfrm>
          <a:prstGeom prst="rect">
            <a:avLst/>
          </a:prstGeom>
        </p:spPr>
      </p:pic>
      <p:pic>
        <p:nvPicPr>
          <p:cNvPr id="7" name="figure_a3b_arm_difference" descr=""/>
          <p:cNvPicPr>
            <a:picLocks noGrp="1"/>
          </p:cNvPicPr>
          <p:nvPr/>
        </p:nvPicPr>
        <p:blipFill>
          <a:blip cstate="print" r:embed="rId4"/>
          <a:stretch>
            <a:fillRect/>
          </a:stretch>
        </p:blipFill>
        <p:spPr>
          <a:xfrm>
            <a:off x="4114800" y="1773936"/>
            <a:ext cx="7573975" cy="2977896"/>
          </a:xfrm>
          <a:prstGeom prst="rect">
            <a:avLst/>
          </a:prstGeom>
        </p:spPr>
      </p:pic>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tp_residual_sensitivity.csv, tp_arm_difference.csv, lloq_individual_table.csv, tp_characteristics.csv, tp_strata_individual.csv 외 8개</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A4a · ② 세부: 2020 ⁠모델 대표 대상자</a:t>
            </a:r>
          </a:p>
        </p:txBody>
      </p:sp>
      <p:sp>
        <p:nvSpPr>
          <p:cNvPr id="4" name="title"/>
          <p:cNvSpPr>
            <a:spLocks noGrp="1"/>
          </p:cNvSpPr>
          <p:nvPr/>
        </p:nvSpPr>
        <p:spPr>
          <a:xfrm>
            <a:off x="502920" y="603504"/>
            <a:ext cx="11094415" cy="576072"/>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2020 ⁠모델도 AUClast/AUCinf⁠는 대표 대상자 99%, 최솟값도 84%⁠다</a:t>
            </a:r>
          </a:p>
        </p:txBody>
      </p:sp>
      <p:sp>
        <p:nvSpPr>
          <p:cNvPr id="5" name="caption"/>
          <p:cNvSpPr>
            <a:spLocks noGrp="1"/>
          </p:cNvSpPr>
          <p:nvPr/>
        </p:nvSpPr>
        <p:spPr>
          <a:xfrm>
            <a:off x="502920" y="5675376"/>
            <a:ext cx="11185855" cy="5791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파랑: AUClast(Day ⁠1~tlast), 주황: tlast 이후 참 외삽 면적(참 AUCinf⁠는 모델 적분값). 세 대상자는 2020 ⁠모델 20,000⁠명 중 AUClast/AUCinf⁠의 중앙값, 5⁠번째 백분위수, 최솟값 대상자다. 모집단 외삽 비율 중앙값은 비구획 2.9% 대 실제 0.64%⁠다(2016 ⁠모델은 S7).</a:t>
            </a:r>
          </a:p>
        </p:txBody>
      </p:sp>
      <p:sp>
        <p:nvSpPr>
          <p:cNvPr id="6" name="body"/>
          <p:cNvSpPr>
            <a:spLocks noGrp="1"/>
          </p:cNvSpPr>
          <p:nvPr/>
        </p:nvSpPr>
        <p:spPr>
          <a:xfrm>
            <a:off x="502920" y="4907280"/>
            <a:ext cx="11185855" cy="713232"/>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중앙값·5⁠번째 백분위수 대상자는 신뢰할 수 있는 AUCinf 기준을 충족하지만 비구획 외삽 면적은 실제의 4.5⁠배, 3.9⁠배다. 최솟값 대상자는 λz⁠를 산출하지 못해 비구획 AUCinf 자체가 없다.</a:t>
            </a:r>
          </a:p>
        </p:txBody>
      </p:sp>
      <p:pic>
        <p:nvPicPr>
          <p:cNvPr id="7" name="figure_a4a_shaded_k2020" descr=""/>
          <p:cNvPicPr>
            <a:picLocks noGrp="1"/>
          </p:cNvPicPr>
          <p:nvPr/>
        </p:nvPicPr>
        <p:blipFill>
          <a:blip cstate="print" r:embed="rId3"/>
          <a:stretch>
            <a:fillRect/>
          </a:stretch>
        </p:blipFill>
        <p:spPr>
          <a:xfrm>
            <a:off x="502920" y="1325880"/>
            <a:ext cx="11185855" cy="3508248"/>
          </a:xfrm>
          <a:prstGeom prst="rect">
            <a:avLst/>
          </a:prstGeom>
        </p:spPr>
      </p:pic>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rep_subjects.csv, pillar1_coverage_B0.csv, rep_profiles.csv, rep_obs.csv, prereg_20260926.yaml 외 2개</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A4b · ② 세부: 관측 대 참 비</a:t>
            </a:r>
          </a:p>
        </p:txBody>
      </p:sp>
      <p:sp>
        <p:nvSpPr>
          <p:cNvPr id="4" name="title"/>
          <p:cNvSpPr>
            <a:spLocks noGrp="1"/>
          </p:cNvSpPr>
          <p:nvPr/>
        </p:nvSpPr>
        <p:spPr>
          <a:xfrm>
            <a:off x="502920" y="603504"/>
            <a:ext cx="11094415" cy="576072"/>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AUClast⁠는 참 AUCinf⁠의 중앙값 99%⁠를 담고, NCA AUCinf⁠는 꼬리가 길다</a:t>
            </a:r>
          </a:p>
        </p:txBody>
      </p:sp>
      <p:sp>
        <p:nvSpPr>
          <p:cNvPr id="5" name="caption"/>
          <p:cNvSpPr>
            <a:spLocks noGrp="1"/>
          </p:cNvSpPr>
          <p:nvPr/>
        </p:nvSpPr>
        <p:spPr>
          <a:xfrm>
            <a:off x="502920" y="5415280"/>
            <a:ext cx="11185855" cy="839216"/>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관측 AUClast 대 참 비에는 잔차 오차와 사다리꼴 근사가 두 arm⁠에 같게 들어간다. NCA AUCinf⁠는 외삽을 과대추정한다(외삽 비율 중앙값 2.7~2.9% 대 참 0.64~0.65%, S7).</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규칙 ⁠B: λz 산출 가능자 전원의 NCA AUCinf. 규칙 ⁠A (i): 세트 ⁠(i)(adjusted R² ≥ ⁠0.80, 외삽 ≤ ⁠20%) 충족자만.</a:t>
            </a:r>
          </a:p>
        </p:txBody>
      </p:sp>
      <p:graphicFrame>
        <p:nvGraphicFramePr>
          <p:cNvPr id="6" name="table_ratio_k2016"/>
          <p:cNvGraphicFramePr>
            <a:graphicFrameLocks noGrp="true"/>
          </p:cNvGraphicFramePr>
          <p:nvPr/>
        </p:nvGraphicFramePr>
        <p:xfrm rot="0">
          <a:off x="502920" y="3732784"/>
          <a:ext cx="5455768" cy="1591056"/>
        </p:xfrm>
        <a:graphic>
          <a:graphicData uri="http://schemas.openxmlformats.org/drawingml/2006/table">
            <a:tbl>
              <a:tblPr/>
              <a:tblGrid>
                <a:gridCol w="1586574"/>
                <a:gridCol w="1023596"/>
                <a:gridCol w="818877"/>
                <a:gridCol w="1392091"/>
                <a:gridCol w="634630"/>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2016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대상자 수</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중앙값</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5~95⁠백분위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최대</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참 AUClast</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20,000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0.993</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0.964~1.000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관측 AUClast</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20,000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0.962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0.811~1.111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1.32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NCA 규칙 ⁠B</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19,708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1.003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0.847~1.165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5.28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NCA 규칙 ⁠A (i)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17,313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1.005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0.852~1.160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1.40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graphicFrame>
        <p:nvGraphicFramePr>
          <p:cNvPr id="7" name="table_ratio_k2020"/>
          <p:cNvGraphicFramePr>
            <a:graphicFrameLocks noGrp="true"/>
          </p:cNvGraphicFramePr>
          <p:nvPr/>
        </p:nvGraphicFramePr>
        <p:xfrm rot="0">
          <a:off x="6233008" y="3732784"/>
          <a:ext cx="5455768" cy="1591056"/>
        </p:xfrm>
        <a:graphic>
          <a:graphicData uri="http://schemas.openxmlformats.org/drawingml/2006/table">
            <a:tbl>
              <a:tblPr/>
              <a:tblGrid>
                <a:gridCol w="1586574"/>
                <a:gridCol w="1023596"/>
                <a:gridCol w="818877"/>
                <a:gridCol w="1392091"/>
                <a:gridCol w="634630"/>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2020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대상자 수</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중앙값</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5~95⁠백분위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최대</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참 AUClast</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20,000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0.994</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0.965~1.000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관측 AUClast</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20,000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0.967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0.873~1.058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1.19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NCA 규칙 ⁠B</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19,877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1.007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0.909~1.117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1.87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NCA 규칙 ⁠A (i)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18,367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1.009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0.912~1.113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1.29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pic>
        <p:nvPicPr>
          <p:cNvPr id="8" name="figure_a4b_obs_true_hist" descr=""/>
          <p:cNvPicPr>
            <a:picLocks noGrp="1"/>
          </p:cNvPicPr>
          <p:nvPr/>
        </p:nvPicPr>
        <p:blipFill>
          <a:blip cstate="print" r:embed="rId3"/>
          <a:stretch>
            <a:fillRect/>
          </a:stretch>
        </p:blipFill>
        <p:spPr>
          <a:xfrm>
            <a:off x="502920" y="1325880"/>
            <a:ext cx="11185855" cy="2315464"/>
          </a:xfrm>
          <a:prstGeom prst="rect">
            <a:avLst/>
          </a:prstGeom>
        </p:spPr>
      </p:pic>
      <p:sp>
        <p:nvSpPr>
          <p:cNvPr id="9"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tp_coverage_individual.csv, pillar1_coverage_B0.csv, coverage_hist.csv, tp_failure_by_set.csv, prereg_20260926.yaml 외 1개</a:t>
            </a:r>
          </a:p>
        </p:txBody>
      </p:sp>
      <p:sp>
        <p:nvSpPr>
          <p:cNvPr id="10"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A5a · ③ 세부: 경계 16⁠칸의 Wilson 분류</a:t>
            </a:r>
          </a:p>
        </p:txBody>
      </p:sp>
      <p:sp>
        <p:nvSpPr>
          <p:cNvPr id="4" name="title"/>
          <p:cNvSpPr>
            <a:spLocks noGrp="1"/>
          </p:cNvSpPr>
          <p:nvPr/>
        </p:nvSpPr>
        <p:spPr>
          <a:xfrm>
            <a:off x="502920" y="603504"/>
            <a:ext cx="11094415" cy="576072"/>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AUCinf + Cmax⁠는 9⁠칸이 초과, AUClast + Cmax⁠는 15⁠칸이 보수적이다</a:t>
            </a:r>
          </a:p>
        </p:txBody>
      </p:sp>
      <p:sp>
        <p:nvSpPr>
          <p:cNvPr id="5" name="caption"/>
          <p:cNvSpPr>
            <a:spLocks noGrp="1"/>
          </p:cNvSpPr>
          <p:nvPr/>
        </p:nvSpPr>
        <p:spPr>
          <a:xfrm>
            <a:off x="502920" y="5649976"/>
            <a:ext cx="11185855" cy="6045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 초과: Wilson 95% 구간 하한 &gt; ⁠5% · ○ 명목: 구간이 5% 포함 · 표시 없음: 보수적(상한 &lt; ⁠5%)</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분석 모형 M1(체중 층 포함), 시험 10,000⁠회(†: 20,000⁠회). 흡수 속도 감소 칸은 참 Cmax 비가 동등 한계 밖이라 두 구성 모두 0%⁠다.</a:t>
            </a:r>
          </a:p>
        </p:txBody>
      </p:sp>
      <p:sp>
        <p:nvSpPr>
          <p:cNvPr id="6" name="body"/>
          <p:cNvSpPr>
            <a:spLocks noGrp="1"/>
          </p:cNvSpPr>
          <p:nvPr/>
        </p:nvSpPr>
        <p:spPr>
          <a:xfrm>
            <a:off x="502920" y="5165344"/>
            <a:ext cx="11185855" cy="411480"/>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AUCinf 구성의 최댓값은 두 모델 모두 표적 소실 증가 칸이다(17.47%, 14.08%). AUClast 구성의 초과 칸은 별첨 A5b.</a:t>
            </a:r>
          </a:p>
        </p:txBody>
      </p:sp>
      <p:sp>
        <p:nvSpPr>
          <p:cNvPr id="7" name="label_k2016"/>
          <p:cNvSpPr>
            <a:spLocks noGrp="1"/>
          </p:cNvSpPr>
          <p:nvPr/>
        </p:nvSpPr>
        <p:spPr>
          <a:xfrm>
            <a:off x="502920" y="1325880"/>
            <a:ext cx="5455768" cy="384048"/>
          </a:xfrm>
          <a:prstGeom prst="rect">
            <a:avLst/>
          </a:prstGeom>
        </p:spPr>
        <p:txBody>
          <a:bodyPr/>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2016 ⁠모델(주 모델)</a:t>
            </a:r>
          </a:p>
        </p:txBody>
      </p:sp>
      <p:graphicFrame>
        <p:nvGraphicFramePr>
          <p:cNvPr id="8" name="table_k2016"/>
          <p:cNvGraphicFramePr>
            <a:graphicFrameLocks noGrp="true"/>
          </p:cNvGraphicFramePr>
          <p:nvPr/>
        </p:nvGraphicFramePr>
        <p:xfrm rot="0">
          <a:off x="502920" y="1709928"/>
          <a:ext cx="5455768" cy="3327400"/>
        </p:xfrm>
        <a:graphic>
          <a:graphicData uri="http://schemas.openxmlformats.org/drawingml/2006/table">
            <a:tbl>
              <a:tblPr/>
              <a:tblGrid>
                <a:gridCol w="2108952"/>
                <a:gridCol w="1100323"/>
                <a:gridCol w="2246493"/>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조건 → 참 AUCinf 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AUClast</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 Cmax</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 + Cmax</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(신뢰할 수 있는 AUCinf⁠만)</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흡수량 감소 → 0.80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4.03%</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6.59% ▲</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흡수량 증가 → 1.25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3.60%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5.76%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선형 소실 증가 → 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4.06%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5.30%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선형 소실 감소 → 1.25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3.79%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4.89%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표적 소실 증가 → 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2.54%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17.47%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표적 소실 감소 → 1.25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2.93%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12.00%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말초 분포 증가 → 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4.33%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6.22%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흡수 속도 감소 → 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9" name="label_k2020"/>
          <p:cNvSpPr>
            <a:spLocks noGrp="1"/>
          </p:cNvSpPr>
          <p:nvPr/>
        </p:nvSpPr>
        <p:spPr>
          <a:xfrm>
            <a:off x="6233008" y="1325880"/>
            <a:ext cx="5455768" cy="384048"/>
          </a:xfrm>
          <a:prstGeom prst="rect">
            <a:avLst/>
          </a:prstGeom>
        </p:spPr>
        <p:txBody>
          <a:bodyPr/>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2020 ⁠모델(민감도 모델)</a:t>
            </a:r>
          </a:p>
        </p:txBody>
      </p:sp>
      <p:graphicFrame>
        <p:nvGraphicFramePr>
          <p:cNvPr id="10" name="table_k2020"/>
          <p:cNvGraphicFramePr>
            <a:graphicFrameLocks noGrp="true"/>
          </p:cNvGraphicFramePr>
          <p:nvPr/>
        </p:nvGraphicFramePr>
        <p:xfrm rot="0">
          <a:off x="6233008" y="1709928"/>
          <a:ext cx="5455768" cy="3327400"/>
        </p:xfrm>
        <a:graphic>
          <a:graphicData uri="http://schemas.openxmlformats.org/drawingml/2006/table">
            <a:tbl>
              <a:tblPr/>
              <a:tblGrid>
                <a:gridCol w="2108952"/>
                <a:gridCol w="1100323"/>
                <a:gridCol w="2246493"/>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조건 → 참 AUCinf 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AUClast</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 Cmax</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 + Cmax</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(신뢰할 수 있는 AUCinf⁠만)</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흡수량 감소 → 0.80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4.10%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6.11% ▲</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흡수량 증가 → 1.25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3.79%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5.49%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선형 소실 증가 → 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4.10%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3.63%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선형 소실 감소 → 1.25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4.05%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2.84%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표적 소실 증가 → 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2.96%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14.08%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표적 소실 감소 → 1.25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3.01%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7.46%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말초 분포 증가 → 0.80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5.63%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2.13%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흡수 속도 감소 → 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11"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type1_models.csv, criteria_g2_type1.csv, trial_design.yaml, oc_design.yaml, prereg_20260926.yaml</a:t>
            </a:r>
          </a:p>
        </p:txBody>
      </p:sp>
      <p:sp>
        <p:nvSpPr>
          <p:cNvPr id="12"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A5b · ③ 세부: 분석 모형과 AUClast + Cmax 초과 한 칸</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분석 모형을 바꿔도 AUCinf + Cmax⁠는 9~10⁠칸이 5%⁠를 넘고, AUClast + Cmax⁠의 초과 한 칸은 AUClast 편향에서 나온다</a:t>
            </a:r>
          </a:p>
        </p:txBody>
      </p:sp>
      <p:sp>
        <p:nvSpPr>
          <p:cNvPr id="5" name="caption"/>
          <p:cNvSpPr>
            <a:spLocks noGrp="1"/>
          </p:cNvSpPr>
          <p:nvPr/>
        </p:nvSpPr>
        <p:spPr>
          <a:xfrm>
            <a:off x="502920" y="5389880"/>
            <a:ext cx="11185855" cy="864616"/>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M0: 투여군만(현행 합동 t 검정) · M1: 투여군 + 무작위배정 체중 층(주분석 후보) · M2: 투여군 + log 체중</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규칙 ⁠A: 미달자 제외, 세트 ⁠(i) adjusted R² ≥ ⁠0.80·외삽 ≤ ⁠20%, (ii) (i) + span ≥ 반감기 2⁠배, (iii) 신뢰할 수 있는 AUCinf</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규칙 ⁠B: λz 산출 전원 · 규칙 ⁠C: 미달자에 AUClast 대입 · 미산출: 사전 등록 범위(M0·M1) 밖</a:t>
            </a:r>
          </a:p>
        </p:txBody>
      </p:sp>
      <p:sp>
        <p:nvSpPr>
          <p:cNvPr id="6" name="body"/>
          <p:cNvSpPr>
            <a:spLocks noGrp="1"/>
          </p:cNvSpPr>
          <p:nvPr/>
        </p:nvSpPr>
        <p:spPr>
          <a:xfrm>
            <a:off x="502920" y="4905248"/>
            <a:ext cx="11185855" cy="411480"/>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초과 한 칸은 AUClast 기하평균비(GMR)⁠가 동등 쪽으로 +0.41% 치우친 결과로, 16⁠칸 중 이 칸뿐이다(M0·M1·M2).</a:t>
            </a:r>
          </a:p>
        </p:txBody>
      </p:sp>
      <p:sp>
        <p:nvSpPr>
          <p:cNvPr id="7" name="label_a"/>
          <p:cNvSpPr>
            <a:spLocks noGrp="1"/>
          </p:cNvSpPr>
          <p:nvPr/>
        </p:nvSpPr>
        <p:spPr>
          <a:xfrm>
            <a:off x="502920" y="1773936"/>
            <a:ext cx="6629400"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(a) 경계 16⁠칸 중 5% 초과 칸 수(점추정) · 최대</a:t>
            </a:r>
          </a:p>
        </p:txBody>
      </p:sp>
      <p:graphicFrame>
        <p:nvGraphicFramePr>
          <p:cNvPr id="8" name="table_models"/>
          <p:cNvGraphicFramePr>
            <a:graphicFrameLocks noGrp="true"/>
          </p:cNvGraphicFramePr>
          <p:nvPr/>
        </p:nvGraphicFramePr>
        <p:xfrm rot="0">
          <a:off x="502920" y="2139696"/>
          <a:ext cx="6629400" cy="2655824"/>
        </p:xfrm>
        <a:graphic>
          <a:graphicData uri="http://schemas.openxmlformats.org/drawingml/2006/table">
            <a:tbl>
              <a:tblPr/>
              <a:tblGrid>
                <a:gridCol w="2926080"/>
                <a:gridCol w="1234440"/>
                <a:gridCol w="1234440"/>
                <a:gridCol w="1234440"/>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판정 구성</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M0</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층 없음</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M1</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체중 층</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M2</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log 체중</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AUClast + Cmax</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3F3F1">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 · 5.18%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3F3F1">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 · 5.63%</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3F3F1">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 · 5.75%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3F3F1">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 + Cmax, 규칙 ⁠A (iii): 신뢰할 수 있는 AUCinf⁠만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 · 17.04%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 · 17.47%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미산출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 + Cmax, 규칙 ⁠A (i)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8 · 19.91%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 · 20.27%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 · 20.49%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 + Cmax, 규칙 ⁠A (ii)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12 · 27.60%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12 · 27.44%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12 · 27.37%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 + Cmax, 규칙 ⁠B</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8 · 15.06%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 · 16.03%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 · 16.31%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 + Cmax, 규칙 ⁠C (i)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 · 4.63%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 · 5.06%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 · 5.10%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9" name="label_b"/>
          <p:cNvSpPr>
            <a:spLocks noGrp="1"/>
          </p:cNvSpPr>
          <p:nvPr/>
        </p:nvSpPr>
        <p:spPr>
          <a:xfrm>
            <a:off x="7406640" y="1773936"/>
            <a:ext cx="4282135"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(b) AUClast + Cmax 초과 한 칸의 분해</a:t>
            </a:r>
          </a:p>
        </p:txBody>
      </p:sp>
      <p:pic>
        <p:nvPicPr>
          <p:cNvPr id="10" name="figure_a5b_decomposition" descr=""/>
          <p:cNvPicPr>
            <a:picLocks noGrp="1"/>
          </p:cNvPicPr>
          <p:nvPr/>
        </p:nvPicPr>
        <p:blipFill>
          <a:blip cstate="print" r:embed="rId3"/>
          <a:stretch>
            <a:fillRect/>
          </a:stretch>
        </p:blipFill>
        <p:spPr>
          <a:xfrm>
            <a:off x="7406640" y="2139696"/>
            <a:ext cx="4282135" cy="2655824"/>
          </a:xfrm>
          <a:prstGeom prst="rect">
            <a:avLst/>
          </a:prstGeom>
        </p:spPr>
      </p:pic>
      <p:sp>
        <p:nvSpPr>
          <p:cNvPr id="11"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type1_models.csv, criteria_g2_type1.csv, p2_decomposition_models.csv, trial_design.yaml, prereg_20260926.yaml 외 1개</a:t>
            </a:r>
          </a:p>
        </p:txBody>
      </p:sp>
      <p:sp>
        <p:nvSpPr>
          <p:cNvPr id="12"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A6 · 실측 자료(300 ⁠mg)</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공개 비구획 평균 AUClast/AUCinf⁠는 같은 조건 모의와 ±3%p 안에서 일치하고, 모의 참값은 99%⁠다</a:t>
            </a:r>
          </a:p>
        </p:txBody>
      </p:sp>
      <p:sp>
        <p:nvSpPr>
          <p:cNvPr id="5" name="caption"/>
          <p:cNvSpPr>
            <a:spLocks noGrp="1"/>
          </p:cNvSpPr>
          <p:nvPr/>
        </p:nvSpPr>
        <p:spPr>
          <a:xfrm>
            <a:off x="502920" y="5675376"/>
            <a:ext cx="11185855" cy="5791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비구획 평균비는 외삽을 과대추정해 참 AUClast/AUCinf⁠의 하한이다(S7). 출처: FDA BLA 761055 임상약리 리뷰 Table 4.2.c, Clot 2021 Table 3; arm⁠별 AUClast: Li 2020 Table 3 p.750.</a:t>
            </a:r>
          </a:p>
        </p:txBody>
      </p:sp>
      <p:sp>
        <p:nvSpPr>
          <p:cNvPr id="6" name="body"/>
          <p:cNvSpPr>
            <a:spLocks noGrp="1"/>
          </p:cNvSpPr>
          <p:nvPr/>
        </p:nvSpPr>
        <p:spPr>
          <a:xfrm>
            <a:off x="502920" y="4907280"/>
            <a:ext cx="11185855" cy="713232"/>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arm⁠별 관측 평균 AUClast⁠는 PKM14161⁠에서 모의 평균과 ±15% 안(모의/관측 0.97~1.08)⁠이고, PKM12350⁠에서는 모의가 더 높다(1.14~1.27; 체중 미보고로 78 ⁠kg 가정).</a:t>
            </a:r>
          </a:p>
        </p:txBody>
      </p:sp>
      <p:pic>
        <p:nvPicPr>
          <p:cNvPr id="7" name="figure_a6_ratio_literature" descr=""/>
          <p:cNvPicPr>
            <a:picLocks noGrp="1"/>
          </p:cNvPicPr>
          <p:nvPr/>
        </p:nvPicPr>
        <p:blipFill>
          <a:blip cstate="print" r:embed="rId3"/>
          <a:stretch>
            <a:fillRect/>
          </a:stretch>
        </p:blipFill>
        <p:spPr>
          <a:xfrm>
            <a:off x="502920" y="1773936"/>
            <a:ext cx="5623560" cy="3060192"/>
          </a:xfrm>
          <a:prstGeom prst="rect">
            <a:avLst/>
          </a:prstGeom>
        </p:spPr>
      </p:pic>
      <p:pic>
        <p:nvPicPr>
          <p:cNvPr id="8" name="figure_a6_arm_auclast" descr=""/>
          <p:cNvPicPr>
            <a:picLocks noGrp="1"/>
          </p:cNvPicPr>
          <p:nvPr/>
        </p:nvPicPr>
        <p:blipFill>
          <a:blip cstate="print" r:embed="rId4"/>
          <a:stretch>
            <a:fillRect/>
          </a:stretch>
        </p:blipFill>
        <p:spPr>
          <a:xfrm>
            <a:off x="6400800" y="1773936"/>
            <a:ext cx="5287975" cy="3060192"/>
          </a:xfrm>
          <a:prstGeom prst="rect">
            <a:avLst/>
          </a:prstGeom>
        </p:spPr>
      </p:pic>
      <p:sp>
        <p:nvSpPr>
          <p:cNvPr id="9"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literature_numeric.csv, step1f_300mg_arm_check.csv, step1g_literature_coverage.csv, design_clot2021.yaml</a:t>
            </a:r>
          </a:p>
        </p:txBody>
      </p:sp>
      <p:sp>
        <p:nvSpPr>
          <p:cNvPr id="10"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A7 · 채혈 일정</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현행 B0(Day ⁠57⁠까지 13⁠회 채혈)⁠를 유지한다: 채혈 후보 어느 것도 두 모델에서 결정 기준 ⁠(a)~(d)⁠를 충족하지 못했다</a:t>
            </a:r>
          </a:p>
        </p:txBody>
      </p:sp>
      <p:graphicFrame>
        <p:nvGraphicFramePr>
          <p:cNvPr id="5" name="table_schedule"/>
          <p:cNvGraphicFramePr>
            <a:graphicFrameLocks noGrp="true"/>
          </p:cNvGraphicFramePr>
          <p:nvPr/>
        </p:nvGraphicFramePr>
        <p:xfrm rot="0">
          <a:off x="502920" y="1773936"/>
          <a:ext cx="11185855" cy="2668016"/>
        </p:xfrm>
        <a:graphic>
          <a:graphicData uri="http://schemas.openxmlformats.org/drawingml/2006/table">
            <a:tbl>
              <a:tblPr/>
              <a:tblGrid>
                <a:gridCol w="2246340"/>
                <a:gridCol w="1787903"/>
                <a:gridCol w="1787903"/>
                <a:gridCol w="1742059"/>
                <a:gridCol w="1742059"/>
                <a:gridCol w="1879590"/>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후보 일정: 추가 채혈일</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(각 칸 2016 / 2020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 AUClast 90% 신뢰구간 평균 폭 감소 (%, 음수 = 넓어짐)</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(b) 선형 소실 ×1.10 제품의 AUClast 통과율 변화 (%p)</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(c) AUCinf 신뢰 충족률 변화, 세트 ⁠(ii) (%p)</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(d) NCA 외삽 20% 초과 비율 (B0 대비 배)</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참고: 신뢰할 수 있는 AUCinf 변화, 세트 ⁠(iii) (%p)</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추가 권고 기준 ⁠(하나라도)</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 이상</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 이상</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+5 이상</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0.5 이하</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기준 아님</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D1: Day ⁠39, 46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-⁠0.39 / -⁠0.32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-⁠0.4 / -⁠0.4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-⁠0.60 / -⁠3.11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0.92 / 0.97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-⁠0.5 / -⁠0.8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D2: Day ⁠39, 46, 53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-⁠0.47 / -⁠0.43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-⁠0.4 / -⁠0.4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-⁠0.27 / -⁠2.29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0.93 / 0.97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-⁠1.1 / -⁠2.3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D3: Day ⁠32, 39, 46, 53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-⁠0.13 / +0.06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-⁠0.2 / 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+1.69 / -⁠1.94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0.60 / 0.69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+1.4 / +0.7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D4: Day ⁠40, 47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-⁠0.40 / -⁠0.34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0.0 / -⁠0.4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-⁠0.83 / -⁠3.50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0.93 / 0.97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-⁠1.5 / -⁠2.4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B-: Day ⁠50 제거</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+0.69 / +0.87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+0.2 / +0.4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-⁠1.82 / -⁠3.18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1.29 / 1.29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미산출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6" name="caption"/>
          <p:cNvSpPr>
            <a:spLocks noGrp="1"/>
          </p:cNvSpPr>
          <p:nvPr/>
        </p:nvSpPr>
        <p:spPr>
          <a:xfrm>
            <a:off x="502920" y="5675376"/>
            <a:ext cx="11185855" cy="5791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결정 규칙은 첫 일정 모의 뒤, 결과 보고 전에 정했다(사전 규정이 아님). (a)·(b)⁠는 체중 층 없는 합동 t 검정(M0)⁠의 시험 수준 결과, (c)·(d)·세트 ⁠(iii)⁠은 대상자 수준이다. B0⁠의 신뢰할 수 있는 AUCinf 비율은 61.2%(2016 ⁠모델), 66.8%(2020 ⁠모델)⁠이다.</a:t>
            </a:r>
          </a:p>
        </p:txBody>
      </p:sp>
      <p:sp>
        <p:nvSpPr>
          <p:cNvPr id="7" name="body"/>
          <p:cNvSpPr>
            <a:spLocks noGrp="1"/>
          </p:cNvSpPr>
          <p:nvPr/>
        </p:nvSpPr>
        <p:spPr>
          <a:xfrm>
            <a:off x="502920" y="4533392"/>
            <a:ext cx="11185855" cy="1105408"/>
          </a:xfrm>
          <a:prstGeom prst="rect">
            <a:avLst/>
          </a:prstGeom>
        </p:spPr>
        <p:txBody>
          <a:bodyPr/>
          <a:lstStyle/>
          <a:p>
            <a:pPr algn="l" marL="285750" marR="0" indent="-228600" eaLnBrk="0">
              <a:lnSpc>
                <a:spcPct val="110000"/>
              </a:lnSpc>
              <a:spcBef>
                <a:spcPts val="0"/>
              </a:spcBef>
              <a:spcAft>
                <a:spcPts val="600"/>
              </a:spcAft>
              <a:buClr>
                <a:srgbClr val="2A78D6"/>
              </a:buClr>
              <a:buFont typeface="Arial"/>
              <a:buChar char="●"/>
            </a:pPr>
            <a:r>
              <a:rPr cap="none" sz="1800" i="0" b="0" u="none">
                <a:solidFill>
                  <a:srgbClr val="0B0B0B">
                    <a:alpha val="100000"/>
                  </a:srgbClr>
                </a:solidFill>
                <a:latin typeface="Pretendard"/>
                <a:cs typeface="Pretendard"/>
                <a:ea typeface="Pretendard"/>
                <a:sym typeface="Pretendard"/>
              </a:rPr>
              <a:t>추가 채혈 D1~D4⁠는 어느 기준에도 닿지 않았다: AUClast 신뢰구간 평균 폭은 최대 0.06% 줄었고(기준 2%), 신뢰할 수 있는 AUCinf 비율은 -⁠2.4~+1.4%p⁠만 바뀐다.</a:t>
            </a:r>
          </a:p>
          <a:p>
            <a:pPr algn="l" marL="285750" marR="0" indent="-228600" eaLnBrk="0">
              <a:lnSpc>
                <a:spcPct val="110000"/>
              </a:lnSpc>
              <a:spcBef>
                <a:spcPts val="0"/>
              </a:spcBef>
              <a:spcAft>
                <a:spcPts val="600"/>
              </a:spcAft>
              <a:buClr>
                <a:srgbClr val="2A78D6"/>
              </a:buClr>
              <a:buFont typeface="Arial"/>
              <a:buChar char="●"/>
            </a:pPr>
            <a:r>
              <a:rPr cap="none" sz="1800" i="0" b="0" u="none">
                <a:solidFill>
                  <a:srgbClr val="0B0B0B">
                    <a:alpha val="100000"/>
                  </a:srgbClr>
                </a:solidFill>
                <a:latin typeface="Pretendard"/>
                <a:cs typeface="Pretendard"/>
                <a:ea typeface="Pretendard"/>
                <a:sym typeface="Pretendard"/>
              </a:rPr>
              <a:t>Day ⁠50 제거(B-)⁠도 기준을 충족하지 않았고, 빼면 외삽 20% 초과 비율이 B0⁠의 1.29⁠배가 된다.</a:t>
            </a:r>
          </a:p>
        </p:txBody>
      </p:sp>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schedule_decision_base.csv, schedule_decision_struct2020.csv, reliable_iii_by_schedule.csv, reliability_paired_vs_B0.csv, criterion_d_200k_base.csv 외 6개</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A8 · Km(Michaelis-Menten 반포화 농도)⁠은 PK⁠로 보이지 않는다</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시험약의 표적 매개 소실 Km⁠을 0.01~100⁠배로 바꿔도 참 AUCinf 비는 0.999~1.059(두 모델)⁠에 머물러 PK⁠로 검출되지 않는다</a:t>
            </a:r>
          </a:p>
        </p:txBody>
      </p:sp>
      <p:sp>
        <p:nvSpPr>
          <p:cNvPr id="5" name="caption"/>
          <p:cNvSpPr>
            <a:spLocks noGrp="1"/>
          </p:cNvSpPr>
          <p:nvPr/>
        </p:nvSpPr>
        <p:spPr>
          <a:xfrm>
            <a:off x="502920" y="5910072"/>
            <a:ext cx="11185855" cy="344424"/>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시험약 arm⁠의 한 기전만 바꾸고 대조약은 그대로 둔 참값 역산(공통 가상 대상자 200,000⁠명, 잔차 없는 모델 적분). 음영: 동등성 범위 0.80~1.25.</a:t>
            </a:r>
          </a:p>
        </p:txBody>
      </p:sp>
      <p:graphicFrame>
        <p:nvGraphicFramePr>
          <p:cNvPr id="6" name="table_mech"/>
          <p:cNvGraphicFramePr>
            <a:graphicFrameLocks noGrp="true"/>
          </p:cNvGraphicFramePr>
          <p:nvPr/>
        </p:nvGraphicFramePr>
        <p:xfrm rot="0">
          <a:off x="6568135" y="1819656"/>
          <a:ext cx="5120640" cy="2514600"/>
        </p:xfrm>
        <a:graphic>
          <a:graphicData uri="http://schemas.openxmlformats.org/drawingml/2006/table">
            <a:tbl>
              <a:tblPr/>
              <a:tblGrid>
                <a:gridCol w="2286000"/>
                <a:gridCol w="1417320"/>
                <a:gridCol w="1417320"/>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시험약 기전 배율</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(2016 ⁠모델 / 2020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참 비 0.80</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도달</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참 비 1.25</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도달</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생체이용률 F</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×0.87 / ×0.87</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×1.15 / ×1.15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흡수 속도상수 ka</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×0.44 / ×0.42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도달 못함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선형 소실 속도상수 ke</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×1.47 / ×1.46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×0.63 / ×0.64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최대 소실 속도 Vmax</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×1.39 / ×1.40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×0.66 / ×0.65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말초 분포용적 V2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×3.21 / ×2.28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도달 못함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반포화 농도 Km</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도달 못함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도달 못함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bl>
          </a:graphicData>
        </a:graphic>
      </p:graphicFrame>
      <p:sp>
        <p:nvSpPr>
          <p:cNvPr id="7" name="body"/>
          <p:cNvSpPr>
            <a:spLocks noGrp="1"/>
          </p:cNvSpPr>
          <p:nvPr/>
        </p:nvSpPr>
        <p:spPr>
          <a:xfrm>
            <a:off x="6568135" y="4443984"/>
            <a:ext cx="5120640" cy="1316736"/>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사전 규정 목표 중 Km 변화로 닿는 것은 1.05 하나다: 2016 ⁠모델 ×84, 2020 ⁠모델 ×92. 참 Cmax 비도 1.000~1.010⁠에 머문다. 다른 기전은 표의 배율에서 동등 경계에 닿는다.</a:t>
            </a:r>
          </a:p>
        </p:txBody>
      </p:sp>
      <p:pic>
        <p:nvPicPr>
          <p:cNvPr id="8" name="figure_a8_km_inversion" descr=""/>
          <p:cNvPicPr>
            <a:picLocks noGrp="1"/>
          </p:cNvPicPr>
          <p:nvPr/>
        </p:nvPicPr>
        <p:blipFill>
          <a:blip cstate="print" r:embed="rId3"/>
          <a:stretch>
            <a:fillRect/>
          </a:stretch>
        </p:blipFill>
        <p:spPr>
          <a:xfrm>
            <a:off x="502920" y="1773936"/>
            <a:ext cx="5790895" cy="4044696"/>
          </a:xfrm>
          <a:prstGeom prst="rect">
            <a:avLst/>
          </a:prstGeom>
        </p:spPr>
      </p:pic>
      <p:sp>
        <p:nvSpPr>
          <p:cNvPr id="9"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inversion_all.csv, inversion_scan_k2016_Km.csv, inversion_scan_k2020_Km.csv, oc_design.yaml, trial_design.yaml 외 3개</a:t>
            </a:r>
          </a:p>
        </p:txBody>
      </p:sp>
      <p:sp>
        <p:nvSpPr>
          <p:cNvPr id="10"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A9 · 표본 수</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arm⁠당 무작위배정 130⁠명을 유지한다: 프로토콜 변동계수에서 AUClast + Cmax 동시 통과 검정력 94.5%</a:t>
            </a:r>
          </a:p>
        </p:txBody>
      </p:sp>
      <p:sp>
        <p:nvSpPr>
          <p:cNvPr id="5" name="caption"/>
          <p:cNvSpPr>
            <a:spLocks noGrp="1"/>
          </p:cNvSpPr>
          <p:nvPr/>
        </p:nvSpPr>
        <p:spPr>
          <a:xfrm>
            <a:off x="502920" y="5649976"/>
            <a:ext cx="11185855" cy="6045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분석식 근사, 참 기하평균비 0.95, 2016 ⁠모델 입력. 통계 모의와 비교해 288⁠칸 중 277⁠칸이 Wilson 95% 구간 안이다. 중도 탈락은 모의하지 않았다.</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CV 근거: PK 모델 40.3%(2016 ⁠모델), 42.8%(2020 ⁠모델), Li 2020 표준편차/평균 35~51%, Cohen 2022 약 52%(다른 제형).</a:t>
            </a:r>
          </a:p>
        </p:txBody>
      </p:sp>
      <p:sp>
        <p:nvSpPr>
          <p:cNvPr id="6" name="body"/>
          <p:cNvSpPr>
            <a:spLocks noGrp="1"/>
          </p:cNvSpPr>
          <p:nvPr/>
        </p:nvSpPr>
        <p:spPr>
          <a:xfrm>
            <a:off x="502920" y="4845304"/>
            <a:ext cx="6720840" cy="713232"/>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현행 평가 가능 117⁠명의 검정력은 CV 46%⁠까지 90% 이상이다. 목표 검정력과 표본 수는 의뢰자가 정한다.</a:t>
            </a:r>
          </a:p>
        </p:txBody>
      </p:sp>
      <p:sp>
        <p:nvSpPr>
          <p:cNvPr id="7" name="label_table"/>
          <p:cNvSpPr>
            <a:spLocks noGrp="1"/>
          </p:cNvSpPr>
          <p:nvPr/>
        </p:nvSpPr>
        <p:spPr>
          <a:xfrm>
            <a:off x="502920" y="1773936"/>
            <a:ext cx="6720840"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동시 통과 검정력(%, M1) · 무작위배정 130⁠명 = 평가 가능 117⁠명</a:t>
            </a:r>
          </a:p>
        </p:txBody>
      </p:sp>
      <p:graphicFrame>
        <p:nvGraphicFramePr>
          <p:cNvPr id="8" name="table_power"/>
          <p:cNvGraphicFramePr>
            <a:graphicFrameLocks noGrp="true"/>
          </p:cNvGraphicFramePr>
          <p:nvPr/>
        </p:nvGraphicFramePr>
        <p:xfrm rot="0">
          <a:off x="502920" y="2139696"/>
          <a:ext cx="6720840" cy="2614168"/>
        </p:xfrm>
        <a:graphic>
          <a:graphicData uri="http://schemas.openxmlformats.org/drawingml/2006/table">
            <a:tbl>
              <a:tblPr/>
              <a:tblGrid>
                <a:gridCol w="2011680"/>
                <a:gridCol w="1097280"/>
                <a:gridCol w="1417320"/>
                <a:gridCol w="1097280"/>
                <a:gridCol w="1097280"/>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AUClast</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변동계수(CV)</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평가 가능</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100⁠명</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평가 가능</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117⁠명 (현행)</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평가 가능</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130⁠명</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평가 가능</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140⁠명</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35%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96.8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98.5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99.2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99.5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40%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93.8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96.5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97.8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98.5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43% (프로토콜)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91.0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94.5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96.3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97.3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46%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87.7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92.0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94.3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95.6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50% (민감도)</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82.7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88.0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90.9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92.6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52%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80.0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85.7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89.0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91.0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9" name="card"/>
          <p:cNvSpPr>
            <a:spLocks noGrp="1"/>
          </p:cNvSpPr>
          <p:nvPr/>
        </p:nvSpPr>
        <p:spPr>
          <a:xfrm>
            <a:off x="7498080" y="1773936"/>
            <a:ext cx="4190695" cy="1800860"/>
          </a:xfrm>
          <a:prstGeom prst="roundRect">
            <a:avLst>
              <a:gd name="adj" fmla="val 5078"/>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CV 43%(프로토콜) · 현행 117⁠명</a:t>
            </a:r>
          </a:p>
        </p:txBody>
      </p:sp>
      <p:sp>
        <p:nvSpPr>
          <p:cNvPr id="10" name="cmid_cardval"/>
          <p:cNvSpPr>
            <a:spLocks noGrp="1"/>
          </p:cNvSpPr>
          <p:nvPr/>
        </p:nvSpPr>
        <p:spPr>
          <a:xfrm>
            <a:off x="7498080" y="2258568"/>
            <a:ext cx="4190695" cy="1261364"/>
          </a:xfrm>
          <a:prstGeom prst="rect">
            <a:avLst/>
          </a:prstGeom>
          <a:solidFill>
            <a:srgbClr val="EAF2FC">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95000"/>
              </a:lnSpc>
              <a:spcBef>
                <a:spcPts val="0"/>
              </a:spcBef>
              <a:spcAft>
                <a:spcPts val="600"/>
              </a:spcAft>
              <a:buNone/>
            </a:pPr>
            <a:r>
              <a:rPr cap="none" sz="4000" i="0" b="1" u="none">
                <a:solidFill>
                  <a:srgbClr val="2A78D6">
                    <a:alpha val="100000"/>
                  </a:srgbClr>
                </a:solidFill>
                <a:latin typeface="Pretendard"/>
                <a:cs typeface="Pretendard"/>
                <a:ea typeface="Pretendard"/>
                <a:sym typeface="Pretendard"/>
              </a:rPr>
              <a:t>94.5%</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90% 검정력: 평가 가능 97⁠명(무작위배정 108⁠명) 필요</a:t>
            </a:r>
          </a:p>
        </p:txBody>
      </p:sp>
      <p:sp>
        <p:nvSpPr>
          <p:cNvPr id="11" name="card"/>
          <p:cNvSpPr>
            <a:spLocks noGrp="1"/>
          </p:cNvSpPr>
          <p:nvPr/>
        </p:nvSpPr>
        <p:spPr>
          <a:xfrm>
            <a:off x="7498080" y="3757676"/>
            <a:ext cx="4190695" cy="1800860"/>
          </a:xfrm>
          <a:prstGeom prst="roundRect">
            <a:avLst>
              <a:gd name="adj" fmla="val 5078"/>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CV 50%(민감도) · 현행 117⁠명</a:t>
            </a:r>
          </a:p>
        </p:txBody>
      </p:sp>
      <p:sp>
        <p:nvSpPr>
          <p:cNvPr id="12" name="cmid_cardval"/>
          <p:cNvSpPr>
            <a:spLocks noGrp="1"/>
          </p:cNvSpPr>
          <p:nvPr/>
        </p:nvSpPr>
        <p:spPr>
          <a:xfrm>
            <a:off x="7498080" y="4242308"/>
            <a:ext cx="4190695" cy="1261364"/>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95000"/>
              </a:lnSpc>
              <a:spcBef>
                <a:spcPts val="0"/>
              </a:spcBef>
              <a:spcAft>
                <a:spcPts val="600"/>
              </a:spcAft>
              <a:buNone/>
            </a:pPr>
            <a:r>
              <a:rPr cap="none" sz="4000" i="0" b="1" u="none">
                <a:solidFill>
                  <a:srgbClr val="0B0B0B">
                    <a:alpha val="100000"/>
                  </a:srgbClr>
                </a:solidFill>
                <a:latin typeface="Pretendard"/>
                <a:cs typeface="Pretendard"/>
                <a:ea typeface="Pretendard"/>
                <a:sym typeface="Pretendard"/>
              </a:rPr>
              <a:t>88.0%</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90% 검정력: 평가 가능 126⁠명(무작위배정 140⁠명) 필요</a:t>
            </a:r>
          </a:p>
        </p:txBody>
      </p:sp>
      <p:sp>
        <p:nvSpPr>
          <p:cNvPr id="13"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ss_table_power.csv, ss_power_mc.csv, ss_inputs.csv, sample_size_logsd.csv, ss_table_n_needed.csv 외 3개</a:t>
            </a:r>
          </a:p>
        </p:txBody>
      </p:sp>
      <p:sp>
        <p:nvSpPr>
          <p:cNvPr id="14"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A10 · SAP 제안과 대응안</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1⁠차는 AUClast + Cmax, AUCinf⁠를 공동 1⁠차로 요구받으면 AUClast⁠를 유지한 채 더한다(경계 1⁠종 오류 최대 3.95%)</a:t>
            </a:r>
          </a:p>
        </p:txBody>
      </p:sp>
      <p:sp>
        <p:nvSpPr>
          <p:cNvPr id="5" name="caption"/>
          <p:cNvSpPr>
            <a:spLocks noGrp="1"/>
          </p:cNvSpPr>
          <p:nvPr/>
        </p:nvSpPr>
        <p:spPr>
          <a:xfrm>
            <a:off x="502920" y="5649976"/>
            <a:ext cx="11185855" cy="6045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경계 1⁠종 오류(M1): 16⁠칸 중 점추정이 5%⁠를 넘는 칸 수와 최댓값. arm⁠당 빠지는 인원 = 평가 가능 117⁠명 - AUCinf 분석 인원(중앙값, 두 모델)</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참 AUCinf 비 = 빠지는 대상자 / 남는 대상자 기하평균(두 모델). 규칙 ⁠B = λz 산출 전원 포함. 세트 ⁠(i) = adjusted R² ≥ ⁠0.80, 외삽 ≤ ⁠20%</a:t>
            </a:r>
          </a:p>
        </p:txBody>
      </p:sp>
      <p:graphicFrame>
        <p:nvGraphicFramePr>
          <p:cNvPr id="6" name="table_configs"/>
          <p:cNvGraphicFramePr>
            <a:graphicFrameLocks noGrp="true"/>
          </p:cNvGraphicFramePr>
          <p:nvPr/>
        </p:nvGraphicFramePr>
        <p:xfrm rot="0">
          <a:off x="502920" y="3632200"/>
          <a:ext cx="11185855" cy="1926336"/>
        </p:xfrm>
        <a:graphic>
          <a:graphicData uri="http://schemas.openxmlformats.org/drawingml/2006/table">
            <a:tbl>
              <a:tblPr/>
              <a:tblGrid>
                <a:gridCol w="3749960"/>
                <a:gridCol w="1463399"/>
                <a:gridCol w="1189012"/>
                <a:gridCol w="2103636"/>
                <a:gridCol w="2679849"/>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판정 구성</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5% 초과 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최대</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arm⁠당 빠지는 인원</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빠지는 대상자의 참 AUCinf 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AUClast + Cmax (제안)</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5.63%</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해당 없음</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해당 없음</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AUClast + AUCinf + Cmax (대응안, 규칙 ⁠B)</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3.95%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1⁠명 (AUCinf⁠만)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미산출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 + Cmax: 신뢰할 수 있는 AUCinf⁠만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17.47%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39~45⁠명</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0.90~0.93⁠배</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 + Cmax: λz 산출 전원(규칙 ⁠B)</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16.03%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1⁠명</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미산출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 + Cmax: 세트 ⁠(i) 충족자만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20.27%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10~16⁠명</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0.79~0.81⁠배</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bl>
          </a:graphicData>
        </a:graphic>
      </p:graphicFrame>
      <p:sp>
        <p:nvSpPr>
          <p:cNvPr id="7" name="card_1"/>
          <p:cNvSpPr>
            <a:spLocks noGrp="1"/>
          </p:cNvSpPr>
          <p:nvPr/>
        </p:nvSpPr>
        <p:spPr>
          <a:xfrm>
            <a:off x="502920" y="1773936"/>
            <a:ext cx="3606698" cy="1693672"/>
          </a:xfrm>
          <a:prstGeom prst="roundRect">
            <a:avLst>
              <a:gd name="adj" fmla="val 5399"/>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600"/>
              </a:spcAft>
              <a:buNone/>
            </a:pPr>
            <a:r>
              <a:rPr cap="none" sz="1800" i="0" b="1" u="none">
                <a:solidFill>
                  <a:srgbClr val="2A78D6">
                    <a:alpha val="100000"/>
                  </a:srgbClr>
                </a:solidFill>
                <a:latin typeface="Pretendard"/>
                <a:cs typeface="Pretendard"/>
                <a:ea typeface="Pretendard"/>
                <a:sym typeface="Pretendard"/>
              </a:rPr>
              <a:t>제안 SAP</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1⁠차: AUClast + Cmax</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2⁠차: AUCinf, 두 분석군(λz 산출 전원 / 신뢰할 수 있는 AUCinf)</a:t>
            </a:r>
          </a:p>
        </p:txBody>
      </p:sp>
      <p:sp>
        <p:nvSpPr>
          <p:cNvPr id="8" name="card_2"/>
          <p:cNvSpPr>
            <a:spLocks noGrp="1"/>
          </p:cNvSpPr>
          <p:nvPr/>
        </p:nvSpPr>
        <p:spPr>
          <a:xfrm>
            <a:off x="4292498" y="1773936"/>
            <a:ext cx="3606698" cy="1693672"/>
          </a:xfrm>
          <a:prstGeom prst="roundRect">
            <a:avLst>
              <a:gd name="adj" fmla="val 5399"/>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600"/>
              </a:spcAft>
              <a:buNone/>
            </a:pPr>
            <a:r>
              <a:rPr cap="none" sz="1800" i="0" b="1" u="none">
                <a:solidFill>
                  <a:srgbClr val="0B0B0B">
                    <a:alpha val="100000"/>
                  </a:srgbClr>
                </a:solidFill>
                <a:latin typeface="Pretendard"/>
                <a:cs typeface="Pretendard"/>
                <a:ea typeface="Pretendard"/>
                <a:sym typeface="Pretendard"/>
              </a:rPr>
              <a:t>AUCinf 공동 1⁠차 요구 시</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AUClast + AUCinf + Cmax</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AUCinf⁠는 λz 산출 전원 포함</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동시 통과율 감소 0.34%p 이하</a:t>
            </a:r>
          </a:p>
        </p:txBody>
      </p:sp>
      <p:sp>
        <p:nvSpPr>
          <p:cNvPr id="9" name="card_3"/>
          <p:cNvSpPr>
            <a:spLocks noGrp="1"/>
          </p:cNvSpPr>
          <p:nvPr/>
        </p:nvSpPr>
        <p:spPr>
          <a:xfrm>
            <a:off x="8082077" y="1773936"/>
            <a:ext cx="3606698" cy="1693672"/>
          </a:xfrm>
          <a:prstGeom prst="roundRect">
            <a:avLst>
              <a:gd name="adj" fmla="val 5399"/>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600"/>
              </a:spcAft>
              <a:buNone/>
            </a:pPr>
            <a:r>
              <a:rPr cap="none" sz="1800" i="0" b="1" u="none">
                <a:solidFill>
                  <a:srgbClr val="EB6834">
                    <a:alpha val="100000"/>
                  </a:srgbClr>
                </a:solidFill>
                <a:latin typeface="Pretendard"/>
                <a:cs typeface="Pretendard"/>
                <a:ea typeface="Pretendard"/>
                <a:sym typeface="Pretendard"/>
              </a:rPr>
              <a:t>권하지 않음: AUCinf + Cmax⁠만</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1⁠종 오류: 16⁠칸 중 10⁠칸이 5% 초과</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신뢰 기준을 쓰면 노출이 낮은 대상자가 빠진다</a:t>
            </a:r>
          </a:p>
        </p:txBody>
      </p:sp>
      <p:sp>
        <p:nvSpPr>
          <p:cNvPr id="10"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type1_models.csv, tp_retained_per_arm.csv, tp_characteristics.csv, criteria_g2_type1.csv, fallback_cost.csv 외 5개</a:t>
            </a:r>
          </a:p>
        </p:txBody>
      </p:sp>
      <p:sp>
        <p:nvSpPr>
          <p:cNvPr id="11"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A11 · 견고성 점검 (근거 아님): 체중 범위, 아토피 피부염 성인, 모델 가정</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체중·모집단·모델 가정을 바꿔도 결론은 같다: 신뢰할 수 있는 AUCinf 미확보 환자의 AUClast/AUCinf⁠도 78.9% 이상</a:t>
            </a:r>
          </a:p>
        </p:txBody>
      </p:sp>
      <p:sp>
        <p:nvSpPr>
          <p:cNvPr id="5" name="text_not_evidence"/>
          <p:cNvSpPr>
            <a:spLocks noGrp="1"/>
          </p:cNvSpPr>
          <p:nvPr/>
        </p:nvSpPr>
        <p:spPr>
          <a:xfrm>
            <a:off x="502920" y="1773936"/>
            <a:ext cx="11185855" cy="429768"/>
          </a:xfrm>
          <a:prstGeom prst="roundRect">
            <a:avLst>
              <a:gd name="adj" fmla="val 21277"/>
            </a:avLst>
          </a:prstGeom>
          <a:solidFill>
            <a:srgbClr val="F3F3F1">
              <a:alpha val="100000"/>
            </a:srgbClr>
          </a:solidFill>
          <a:ln w="0" cap="rnd" cmpd="sng">
            <a:noFill/>
            <a:prstDash val="solid"/>
            <a:round/>
            <a:headEnd type="none" w="med" len="med"/>
            <a:tailEnd type="none" w="med" len="med"/>
          </a:ln>
        </p:spPr>
        <p:txBody>
          <a:bodyPr anchor="ctr"/>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평가변수 선택의 근거가 아니다.</a:t>
            </a:r>
            <a:r>
              <a:rPr cap="none" sz="1800" i="0" b="0" u="none">
                <a:solidFill>
                  <a:srgbClr val="0B0B0B">
                    <a:alpha val="100000"/>
                  </a:srgbClr>
                </a:solidFill>
                <a:latin typeface="Pretendard"/>
                <a:cs typeface="Pretendard"/>
                <a:ea typeface="Pretendard"/>
                <a:sym typeface="Pretendard"/>
              </a:rPr>
              <a:t> 근거는 시험 모집단(건강인 60~90 ⁠kg, 체중 층화 배정)⁠뿐이다.</a:t>
            </a:r>
          </a:p>
        </p:txBody>
      </p:sp>
      <p:sp>
        <p:nvSpPr>
          <p:cNvPr id="6" name="caption"/>
          <p:cNvSpPr>
            <a:spLocks noGrp="1"/>
          </p:cNvSpPr>
          <p:nvPr/>
        </p:nvSpPr>
        <p:spPr>
          <a:xfrm>
            <a:off x="502920" y="5440680"/>
            <a:ext cx="11185855" cy="813816"/>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회색 띠: 연구 체중 범위, 점선 오른쪽(130 ⁠kg 이상)⁠은 모델 외삽일 수 있음. 제목 값: (b)⁠의 미확보 환자 중 최솟값(세 모델 변형; 파랑 선은 전체 환자). 세트 ⁠(i): adjusted R² ≥ ⁠0.80, 외삽 ≤ ⁠20%. 세트 ⁠(iii) = 신뢰할 수 있는 AUCinf(adjusted R² ≥ ⁠0.90, 외삽 ≤ ⁠20%; 표의 AUCinf + Cmax⁠도 이 기준). 1⁠종 오류는 점추정; M0 층 없음, M1 체중 층 포함(주분석), M2 log 체중 공분산분석.</a:t>
            </a:r>
          </a:p>
        </p:txBody>
      </p:sp>
      <p:graphicFrame>
        <p:nvGraphicFramePr>
          <p:cNvPr id="7" name="table_robust"/>
          <p:cNvGraphicFramePr>
            <a:graphicFrameLocks noGrp="true"/>
          </p:cNvGraphicFramePr>
          <p:nvPr/>
        </p:nvGraphicFramePr>
        <p:xfrm rot="0">
          <a:off x="5852160" y="2331720"/>
          <a:ext cx="5836615" cy="3017520"/>
        </p:xfrm>
        <a:graphic>
          <a:graphicData uri="http://schemas.openxmlformats.org/drawingml/2006/table">
            <a:tbl>
              <a:tblPr/>
              <a:tblGrid>
                <a:gridCol w="1691640"/>
                <a:gridCol w="4144975"/>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바꾼 가정</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결과 (1⁠종 오류: 경계 조건, 분석 모형 M1)</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구조 모델</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2016 / 2020 ⁠모델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AUClast + Cmax 최대 4.3% / 5.6%.</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AUCinf + Cmax⁠는 16⁠개 중 10⁠개 조건에서 5% 초과</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곡선 모양</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(양 군 공통)</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AUClast/AUCinf 5⁠번째 백분위수 94.7% 이상,</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80% 미만 0%(S8). 1⁠종 오류 미산출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정량한계</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0.02~0.50 ⁠mg/L</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AUClast + Cmax 2.60~4.62%.</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AUCinf + Cmax 6.8~28.5%(세트 ⁠(ii)⁠만 계산)</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비례 잔차</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24.2% → 12%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신뢰할 수 있는 AUCinf 미확보 38.8% → 27.2%.</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1⁠종 오류 미산출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분석 모형</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M0 / M1 / M2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AUClast + Cmax⁠의 5% 초과는 2020 ⁠모델</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말초 분포용적(V2) 증가 조건뿐(별첨 A5)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pic>
        <p:nvPicPr>
          <p:cNvPr id="8" name="figure_a11_weight_atopic" descr=""/>
          <p:cNvPicPr>
            <a:picLocks noGrp="1"/>
          </p:cNvPicPr>
          <p:nvPr/>
        </p:nvPicPr>
        <p:blipFill>
          <a:blip cstate="print" r:embed="rId3"/>
          <a:stretch>
            <a:fillRect/>
          </a:stretch>
        </p:blipFill>
        <p:spPr>
          <a:xfrm>
            <a:off x="502920" y="2331720"/>
            <a:ext cx="5120640" cy="3017520"/>
          </a:xfrm>
          <a:prstGeom prst="rect">
            <a:avLst/>
          </a:prstGeom>
        </p:spPr>
      </p:pic>
      <p:sp>
        <p:nvSpPr>
          <p:cNvPr id="9"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weight_bands_B0_abcd.csv, atopic_coverage_failing.csv, type1_models.csv, criteria_g2_type1.csv, coverage_by_case.csv 외 18개</a:t>
            </a:r>
          </a:p>
        </p:txBody>
      </p:sp>
      <p:sp>
        <p:nvSpPr>
          <p:cNvPr id="10"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A12 · 한계와 검증 상태</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곡선 모양과 반포화 농도(Km) 0.01 ⁠mg/L 고정은 민감도 분석으로만 확인했고, 실제 Phoenix 대조와 독립 품질 점검(QC)⁠은 아직 하지 않았다</a:t>
            </a:r>
          </a:p>
        </p:txBody>
      </p:sp>
      <p:sp>
        <p:nvSpPr>
          <p:cNvPr id="5" name="caption"/>
          <p:cNvSpPr>
            <a:spLocks noGrp="1"/>
          </p:cNvSpPr>
          <p:nvPr/>
        </p:nvSpPr>
        <p:spPr>
          <a:xfrm>
            <a:off x="502920" y="5910072"/>
            <a:ext cx="11185855" cy="344424"/>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별첨 A13(규제 업무(RA) 포지션 페이퍼 7⁠절 대응표)⁠은 싣지 않았다: 포지션 페이퍼와 직전 지시의 결과가 저장소에 없다(DECISIONS D-063).</a:t>
            </a:r>
          </a:p>
        </p:txBody>
      </p:sp>
      <p:graphicFrame>
        <p:nvGraphicFramePr>
          <p:cNvPr id="6" name="table_limits"/>
          <p:cNvGraphicFramePr>
            <a:graphicFrameLocks noGrp="true"/>
          </p:cNvGraphicFramePr>
          <p:nvPr/>
        </p:nvGraphicFramePr>
        <p:xfrm rot="0">
          <a:off x="502920" y="1773936"/>
          <a:ext cx="11185855" cy="3989832"/>
        </p:xfrm>
        <a:graphic>
          <a:graphicData uri="http://schemas.openxmlformats.org/drawingml/2006/table">
            <a:tbl>
              <a:tblPr/>
              <a:tblGrid>
                <a:gridCol w="1783517"/>
                <a:gridCol w="2835335"/>
                <a:gridCol w="6567002"/>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상태</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항목</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내용과 다음 조치</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민감도 분석으로만 확인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정량한계 아래 곡선 모양,</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Km ⁠0.01 ⁠mg/L 고정(개인차 없음)</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양 군 최대 소실 속도(Vmax) ×0.8·×1.25, Km ⁠×0.5·×10⁠에서</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AUClast/AUCinf 5⁠번째 백분위수 94.7% 이상(S8, 별첨 A8)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재현 안 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200 ⁠mg 제형(175 ⁠mg/mL)⁠의</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빠른 흡수</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최고 농도 도달 시간(tmax) 관측 3.0~3.1⁠일 대 모의 7⁠일.</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시험 제형 300 ⁠mg⁠은 노출 재현(별첨 A1): 두 군 모두 이 제형인지 확인</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미실시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실제 Phoenix WinNonlin⁠과의 대조</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NCA 엔진은 NonCompart·PKNCA⁠와만 대조(λz 창 3,054 / 3,054 ⁠일치).</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대표 프로필 일부를 Phoenix⁠로 돌려 λz 창과 AUCinf⁠를 대조</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대기</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담당자의 독립 QC</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검증 기록 결과 칸 'PENDING (sponsor)', 서명 페이지 공란 → 수치·본문을 한 줄씩 대조</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원문 미대조</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문헌·지침 인용 4⁠건 (검색 발췌)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FDA BLA 761055 리뷰의 문구와 쪽(48⁠쪽) 미확인, EMA 생동 지침의 80% 기준,</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선례 시험과 EMA 2012 지침: 모두 원문과 대조</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일치</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핵심 덱 새 요약(scripts/63) 재생성</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원래 시드 규칙으로 재생성해 커밋된 결과와 대조 34⁠개 모두 일치(provenance.csv)</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의뢰자 결정 대기</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정량한계, 잠정 설계값,</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주분석 모형, 목표 검정력</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LLOQ 0.078 ⁠mg/L⁠와 설계값은 가정. 주분석 제안 M1(체중 층 포함), M0(층 없음) 병기.</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목표 검정력 90%⁠면 arm⁠당 평가 가능 97⁠명, 85%⁠면 83⁠명(현행 117⁠명)</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7"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provenance.csv, verification_qc.csv, literature_core_deck.yaml, engine_validation_summary.csv, coverage_by_case.csv 외 13개</a:t>
            </a:r>
          </a:p>
        </p:txBody>
      </p:sp>
      <p:sp>
        <p:nvSpPr>
          <p:cNvPr id="8"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A14 · 재현성</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핵심 덱 입력의 대조 34⁠개가 모두 일치했고, v1.0 재현 항목 7⁠개는 새 GitHub 러너에서 통과했다</a:t>
            </a:r>
          </a:p>
        </p:txBody>
      </p:sp>
      <p:sp>
        <p:nvSpPr>
          <p:cNvPr id="5" name="card"/>
          <p:cNvSpPr>
            <a:spLocks noGrp="1"/>
          </p:cNvSpPr>
          <p:nvPr/>
        </p:nvSpPr>
        <p:spPr>
          <a:xfrm>
            <a:off x="502920" y="1847088"/>
            <a:ext cx="3594506" cy="2697480"/>
          </a:xfrm>
          <a:prstGeom prst="roundRect">
            <a:avLst>
              <a:gd name="adj" fmla="val 3390"/>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① 핵심 덱 입력 (scripts/63)</a:t>
            </a:r>
          </a:p>
        </p:txBody>
      </p:sp>
      <p:sp>
        <p:nvSpPr>
          <p:cNvPr id="6" name="cmid_cardval"/>
          <p:cNvSpPr>
            <a:spLocks noGrp="1"/>
          </p:cNvSpPr>
          <p:nvPr/>
        </p:nvSpPr>
        <p:spPr>
          <a:xfrm>
            <a:off x="502920" y="2331720"/>
            <a:ext cx="3594506" cy="2157984"/>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95000"/>
              </a:lnSpc>
              <a:spcBef>
                <a:spcPts val="0"/>
              </a:spcBef>
              <a:spcAft>
                <a:spcPts val="600"/>
              </a:spcAft>
              <a:buNone/>
            </a:pPr>
            <a:r>
              <a:rPr cap="none" sz="4000" i="0" b="1" u="none">
                <a:solidFill>
                  <a:srgbClr val="0B0B0B">
                    <a:alpha val="100000"/>
                  </a:srgbClr>
                </a:solidFill>
                <a:latin typeface="Pretendard"/>
                <a:cs typeface="Pretendard"/>
                <a:ea typeface="Pretendard"/>
                <a:sym typeface="Pretendard"/>
              </a:rPr>
              <a:t>34/34</a:t>
            </a:r>
            <a:r>
              <a:rPr cap="none" sz="2000" i="0" b="0" u="none">
                <a:solidFill>
                  <a:srgbClr val="52514E">
                    <a:alpha val="100000"/>
                  </a:srgbClr>
                </a:solidFill>
                <a:latin typeface="Pretendard"/>
                <a:cs typeface="Pretendard"/>
                <a:ea typeface="Pretendard"/>
                <a:sym typeface="Pretendard"/>
              </a:rPr>
              <a:t> 일치</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곡선 모양 변형 5⁠개와 대표 대상자 모집단을 원래 시드 규칙으로 다시 만들어 커밋된 요약·저장된 결과와 대조. 입력 9⁠개는 SHA‑256 기록</a:t>
            </a:r>
          </a:p>
        </p:txBody>
      </p:sp>
      <p:sp>
        <p:nvSpPr>
          <p:cNvPr id="7" name="card"/>
          <p:cNvSpPr>
            <a:spLocks noGrp="1"/>
          </p:cNvSpPr>
          <p:nvPr/>
        </p:nvSpPr>
        <p:spPr>
          <a:xfrm>
            <a:off x="4298594" y="1847088"/>
            <a:ext cx="3594506" cy="2697480"/>
          </a:xfrm>
          <a:prstGeom prst="roundRect">
            <a:avLst>
              <a:gd name="adj" fmla="val 3390"/>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② v1.0 결과 재현 (새 러너)</a:t>
            </a:r>
          </a:p>
        </p:txBody>
      </p:sp>
      <p:sp>
        <p:nvSpPr>
          <p:cNvPr id="8" name="cmid_cardval"/>
          <p:cNvSpPr>
            <a:spLocks noGrp="1"/>
          </p:cNvSpPr>
          <p:nvPr/>
        </p:nvSpPr>
        <p:spPr>
          <a:xfrm>
            <a:off x="4298594" y="2331720"/>
            <a:ext cx="3594506" cy="2157984"/>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95000"/>
              </a:lnSpc>
              <a:spcBef>
                <a:spcPts val="0"/>
              </a:spcBef>
              <a:spcAft>
                <a:spcPts val="600"/>
              </a:spcAft>
              <a:buNone/>
            </a:pPr>
            <a:r>
              <a:rPr cap="none" sz="4000" i="0" b="1" u="none">
                <a:solidFill>
                  <a:srgbClr val="0B0B0B">
                    <a:alpha val="100000"/>
                  </a:srgbClr>
                </a:solidFill>
                <a:latin typeface="Pretendard"/>
                <a:cs typeface="Pretendard"/>
                <a:ea typeface="Pretendard"/>
                <a:sym typeface="Pretendard"/>
              </a:rPr>
              <a:t>7/7</a:t>
            </a:r>
            <a:r>
              <a:rPr cap="none" sz="2000" i="0" b="0" u="none">
                <a:solidFill>
                  <a:srgbClr val="52514E">
                    <a:alpha val="100000"/>
                  </a:srgbClr>
                </a:solidFill>
                <a:latin typeface="Pretendard"/>
                <a:cs typeface="Pretendard"/>
                <a:ea typeface="Pretendard"/>
                <a:sym typeface="Pretendard"/>
              </a:rPr>
              <a:t> 통과</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재현 워크플로 첫 실행(2026‑09‑25). renv.lock⁠으로 환경을 복원해 다시 계산했고, 값은 로컬 실행과 유효숫자 8⁠자리까지 같다</a:t>
            </a:r>
          </a:p>
        </p:txBody>
      </p:sp>
      <p:sp>
        <p:nvSpPr>
          <p:cNvPr id="9" name="card"/>
          <p:cNvSpPr>
            <a:spLocks noGrp="1"/>
          </p:cNvSpPr>
          <p:nvPr/>
        </p:nvSpPr>
        <p:spPr>
          <a:xfrm>
            <a:off x="8094269" y="1847088"/>
            <a:ext cx="3594506" cy="2697480"/>
          </a:xfrm>
          <a:prstGeom prst="roundRect">
            <a:avLst>
              <a:gd name="adj" fmla="val 3390"/>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③ 자동 시험 (GitHub Actions)</a:t>
            </a:r>
          </a:p>
        </p:txBody>
      </p:sp>
      <p:sp>
        <p:nvSpPr>
          <p:cNvPr id="10" name="cmid_cardval"/>
          <p:cNvSpPr>
            <a:spLocks noGrp="1"/>
          </p:cNvSpPr>
          <p:nvPr/>
        </p:nvSpPr>
        <p:spPr>
          <a:xfrm>
            <a:off x="8094269" y="2331720"/>
            <a:ext cx="3594506" cy="2157984"/>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95000"/>
              </a:lnSpc>
              <a:spcBef>
                <a:spcPts val="0"/>
              </a:spcBef>
              <a:spcAft>
                <a:spcPts val="600"/>
              </a:spcAft>
              <a:buNone/>
            </a:pPr>
            <a:r>
              <a:rPr cap="none" sz="4000" i="0" b="1" u="none">
                <a:solidFill>
                  <a:srgbClr val="0B0B0B">
                    <a:alpha val="100000"/>
                  </a:srgbClr>
                </a:solidFill>
                <a:latin typeface="Pretendard"/>
                <a:cs typeface="Pretendard"/>
                <a:ea typeface="Pretendard"/>
                <a:sym typeface="Pretendard"/>
              </a:rPr>
              <a:t>21</a:t>
            </a:r>
            <a:r>
              <a:rPr cap="none" sz="2000" i="0" b="0" u="none">
                <a:solidFill>
                  <a:srgbClr val="52514E">
                    <a:alpha val="100000"/>
                  </a:srgbClr>
                </a:solidFill>
                <a:latin typeface="Pretendard"/>
                <a:cs typeface="Pretendard"/>
                <a:ea typeface="Pretendard"/>
                <a:sym typeface="Pretendard"/>
              </a:rPr>
              <a:t> 성공  </a:t>
            </a:r>
            <a:r>
              <a:rPr cap="none" sz="4000" i="0" b="1" u="none">
                <a:solidFill>
                  <a:srgbClr val="0B0B0B">
                    <a:alpha val="100000"/>
                  </a:srgbClr>
                </a:solidFill>
                <a:latin typeface="Pretendard"/>
                <a:cs typeface="Pretendard"/>
                <a:ea typeface="Pretendard"/>
                <a:sym typeface="Pretendard"/>
              </a:rPr>
              <a:t>6</a:t>
            </a:r>
            <a:r>
              <a:rPr cap="none" sz="2000" i="0" b="0" u="none">
                <a:solidFill>
                  <a:srgbClr val="52514E">
                    <a:alpha val="100000"/>
                  </a:srgbClr>
                </a:solidFill>
                <a:latin typeface="Pretendard"/>
                <a:cs typeface="Pretendard"/>
                <a:ea typeface="Pretendard"/>
                <a:sym typeface="Pretendard"/>
              </a:rPr>
              <a:t> 실패</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실행 72~101(취소 3). 실패는 건너뜀 규칙(87~91)⁠과 환경 설정(99) 때문이며 다음 실행(92, 100)⁠에서 고쳤다</a:t>
            </a:r>
          </a:p>
        </p:txBody>
      </p:sp>
      <p:sp>
        <p:nvSpPr>
          <p:cNvPr id="11" name="caption"/>
          <p:cNvSpPr>
            <a:spLocks noGrp="1"/>
          </p:cNvSpPr>
          <p:nvPr/>
        </p:nvSpPr>
        <p:spPr>
          <a:xfrm>
            <a:off x="502920" y="5675376"/>
            <a:ext cx="11185855" cy="5791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새 러너 재현 항목은 v1.0 결과(운용 특성 모의 시험, 경계 배율 탐색, 외삽 비율 중앙값)⁠이며 v1.0.1 사전 등록 분석은 없다. 핵심 덱 입력은 저장된 v1.0.1 결과의 요약이다(새 시험 모의 없음).</a:t>
            </a:r>
          </a:p>
        </p:txBody>
      </p:sp>
      <p:sp>
        <p:nvSpPr>
          <p:cNvPr id="12" name="body"/>
          <p:cNvSpPr>
            <a:spLocks noGrp="1"/>
          </p:cNvSpPr>
          <p:nvPr/>
        </p:nvSpPr>
        <p:spPr>
          <a:xfrm>
            <a:off x="502920" y="4888992"/>
            <a:ext cx="11185855" cy="713232"/>
          </a:xfrm>
          <a:prstGeom prst="rect">
            <a:avLst/>
          </a:prstGeom>
        </p:spPr>
        <p:txBody>
          <a:bodyPr/>
          <a:lstStyle/>
          <a:p>
            <a:pPr algn="l" marL="0" marR="0" eaLnBrk="0">
              <a:lnSpc>
                <a:spcPct val="110000"/>
              </a:lnSpc>
              <a:spcBef>
                <a:spcPts val="0"/>
              </a:spcBef>
              <a:spcAft>
                <a:spcPts val="600"/>
              </a:spcAft>
              <a:buNone/>
            </a:pPr>
            <a:r>
              <a:rPr cap="none" sz="1800" i="0" b="0" u="none">
                <a:solidFill>
                  <a:srgbClr val="0B0B0B">
                    <a:alpha val="100000"/>
                  </a:srgbClr>
                </a:solidFill>
                <a:latin typeface="Pretendard"/>
                <a:cs typeface="Pretendard"/>
                <a:ea typeface="Pretendard"/>
                <a:sym typeface="Pretendard"/>
              </a:rPr>
              <a:t>사전 등록(config/prereg</a:t>
            </a:r>
            <a:r>
              <a:rPr cap="none" sz="1800" i="0" b="0" u="none">
                <a:solidFill>
                  <a:srgbClr val="0B0B0B">
                    <a:alpha val="100000"/>
                  </a:srgbClr>
                </a:solidFill>
                <a:latin typeface="Pretendard"/>
                <a:cs typeface="Pretendard"/>
                <a:ea typeface="Pretendard"/>
                <a:sym typeface="Pretendard"/>
              </a:rPr>
              <a:t>_</a:t>
            </a:r>
            <a:r>
              <a:rPr cap="none" sz="1800" i="0" b="0" u="none">
                <a:solidFill>
                  <a:srgbClr val="0B0B0B">
                    <a:alpha val="100000"/>
                  </a:srgbClr>
                </a:solidFill>
                <a:latin typeface="Pretendard"/>
                <a:cs typeface="Pretendard"/>
                <a:ea typeface="Pretendard"/>
                <a:sym typeface="Pretendard"/>
              </a:rPr>
              <a:t>20260929.yaml, 2026-09-29)⁠을 커밋한 뒤 계산했다. 난수는 고정 시드와 태그에서 파생하며(주 시드 20260923), 패키지 버전은 renv.lock⁠으로 고정했다(R 4.3.3, rxode2 5.1.7).</a:t>
            </a:r>
          </a:p>
        </p:txBody>
      </p:sp>
      <p:sp>
        <p:nvSpPr>
          <p:cNvPr id="13"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provenance.csv, repro_github_run.csv, repro_github_items.csv, ci_runs_after_fix.csv, ci_runs_deck.csv 외 7개</a:t>
            </a:r>
          </a:p>
        </p:txBody>
      </p:sp>
      <p:sp>
        <p:nvSpPr>
          <p:cNvPr id="14"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Pretendard"/>
        <a:ea typeface="Pretendard"/>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Pretendard"/>
        <a:ea typeface="Pretendard"/>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
  <cp:revision>3</cp:revision>
  <dcterms:created xsi:type="dcterms:W3CDTF">2017-02-13T16:18:36Z</dcterms:created>
  <dcterms:modified xsi:type="dcterms:W3CDTF">2026-09-29T06:58:39Z</dcterms:modified>
  <cp:category/>
</cp:coreProperties>
</file>